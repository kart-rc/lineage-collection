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hours for a brand-new team: introductions first so scope lands on real people, then why, problem, and the rules; a break before the deep design block; scope, pod breakouts so commitments form in the room, and a hard close with owners and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at-a-glance version for the meeting invite and the opening screen: no descriptions, why folded into the welcome, ten extra minutes on design discussion and five more on pod breakouts.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teams of two pods each. Pods are cut along the contract freezes so they can work independently: A1 provides the foundations everyone consumes, A2 owns event-to-run, B1 turns runs into evidence, B2 turns evidence into published trust. The only mandatory integration is the week-8 walking skeleton.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clarity contract: pods decide their internals alone; anything touching a frozen contract needs the consuming pod plus a major version bump; the director keeps descope, spike verdicts, policy sign-off and gate changes. Cadence is deliberately thin — freeze reviews and the weekly demo, no daily cross-pod standups.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1500" y="381000"/>
            <a:ext cx="18859500" cy="257175"/>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5F6B7A"/>
                </a:solidFill>
                <a:latin typeface="IBM Plex Mono" pitchFamily="34" charset="0"/>
                <a:ea typeface="IBM Plex Mono" pitchFamily="34" charset="-122"/>
                <a:cs typeface="IBM Plex Mono" pitchFamily="34" charset="-120"/>
              </a:rPr>
              <a:t>NEW-TEAM ONBOARDING · LINEAGE COLLECTION PLATFORM · 120 MINUTES</a:t>
            </a:r>
            <a:endParaRPr lang="en-US" sz="1350" dirty="0"/>
          </a:p>
        </p:txBody>
      </p:sp>
      <p:sp>
        <p:nvSpPr>
          <p:cNvPr id="3" name="Text 1"/>
          <p:cNvSpPr/>
          <p:nvPr/>
        </p:nvSpPr>
        <p:spPr>
          <a:xfrm>
            <a:off x="571500" y="619125"/>
            <a:ext cx="18859500" cy="504825"/>
          </a:xfrm>
          <a:prstGeom prst="rect">
            <a:avLst/>
          </a:prstGeom>
          <a:noFill/>
          <a:ln/>
        </p:spPr>
        <p:txBody>
          <a:bodyPr wrap="square" lIns="25400" tIns="25400" rIns="25400" bIns="25400" rtlCol="0" anchor="t">
            <a:normAutofit/>
          </a:bodyPr>
          <a:lstStyle/>
          <a:p>
            <a:pPr algn="l" indent="0" marL="0">
              <a:buNone/>
            </a:pPr>
            <a:r>
              <a:rPr lang="en-US" sz="2850" b="1" dirty="0">
                <a:solidFill>
                  <a:srgbClr val="232F3E"/>
                </a:solidFill>
                <a:latin typeface="IBM Plex Sans" pitchFamily="34" charset="0"/>
                <a:ea typeface="IBM Plex Sans" pitchFamily="34" charset="-122"/>
                <a:cs typeface="IBM Plex Sans" pitchFamily="34" charset="-120"/>
              </a:rPr>
              <a:t>The two-hour discussion — agenda</a:t>
            </a:r>
            <a:endParaRPr lang="en-US" sz="2850" dirty="0"/>
          </a:p>
        </p:txBody>
      </p:sp>
      <p:sp>
        <p:nvSpPr>
          <p:cNvPr id="4" name="Shape 2"/>
          <p:cNvSpPr/>
          <p:nvPr/>
        </p:nvSpPr>
        <p:spPr>
          <a:xfrm>
            <a:off x="571500" y="1238250"/>
            <a:ext cx="17145000" cy="19050"/>
          </a:xfrm>
          <a:prstGeom prst="rect">
            <a:avLst/>
          </a:prstGeom>
          <a:solidFill>
            <a:srgbClr val="232F3E"/>
          </a:solidFill>
          <a:ln/>
        </p:spPr>
      </p:sp>
      <p:sp>
        <p:nvSpPr>
          <p:cNvPr id="5" name="Text 3"/>
          <p:cNvSpPr/>
          <p:nvPr/>
        </p:nvSpPr>
        <p:spPr>
          <a:xfrm>
            <a:off x="571500" y="1684139"/>
            <a:ext cx="11239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232F3E"/>
                </a:solidFill>
                <a:latin typeface="IBM Plex Mono" pitchFamily="34" charset="0"/>
                <a:ea typeface="IBM Plex Mono" pitchFamily="34" charset="-122"/>
                <a:cs typeface="IBM Plex Mono" pitchFamily="34" charset="-120"/>
              </a:rPr>
              <a:t>0:00–0:10</a:t>
            </a:r>
            <a:endParaRPr lang="en-US" sz="1125" dirty="0"/>
          </a:p>
        </p:txBody>
      </p:sp>
      <p:sp>
        <p:nvSpPr>
          <p:cNvPr id="6" name="Text 4"/>
          <p:cNvSpPr/>
          <p:nvPr/>
        </p:nvSpPr>
        <p:spPr>
          <a:xfrm>
            <a:off x="1809750" y="1579364"/>
            <a:ext cx="3457575"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232F3E"/>
                </a:solidFill>
                <a:latin typeface="IBM Plex Sans" pitchFamily="34" charset="0"/>
                <a:ea typeface="IBM Plex Sans" pitchFamily="34" charset="-122"/>
                <a:cs typeface="IBM Plex Sans" pitchFamily="34" charset="-120"/>
              </a:rPr>
              <a:t>Welcome &amp; introductions</a:t>
            </a:r>
            <a:endParaRPr lang="en-US" sz="1350" dirty="0"/>
          </a:p>
        </p:txBody>
      </p:sp>
      <p:sp>
        <p:nvSpPr>
          <p:cNvPr id="7" name="Text 5"/>
          <p:cNvSpPr/>
          <p:nvPr/>
        </p:nvSpPr>
        <p:spPr>
          <a:xfrm>
            <a:off x="1809750" y="1817489"/>
            <a:ext cx="3457575" cy="190500"/>
          </a:xfrm>
          <a:prstGeom prst="rect">
            <a:avLst/>
          </a:prstGeom>
          <a:noFill/>
          <a:ln/>
        </p:spPr>
        <p:txBody>
          <a:bodyPr wrap="square" lIns="25400" tIns="25400" rIns="25400" bIns="25400" rtlCol="0" anchor="t">
            <a:normAutofit/>
          </a:bodyPr>
          <a:lstStyle/>
          <a:p>
            <a:pPr algn="l" indent="0" marL="0">
              <a:buNone/>
            </a:pPr>
            <a:r>
              <a:rPr lang="en-US" sz="938" dirty="0">
                <a:solidFill>
                  <a:srgbClr val="5F6B7A"/>
                </a:solidFill>
                <a:latin typeface="IBM Plex Sans" pitchFamily="34" charset="0"/>
                <a:ea typeface="IBM Plex Sans" pitchFamily="34" charset="-122"/>
                <a:cs typeface="IBM Plex Sans" pitchFamily="34" charset="-120"/>
              </a:rPr>
              <a:t>purpose: know who's in the room and what they bring</a:t>
            </a:r>
            <a:endParaRPr lang="en-US" sz="938" dirty="0"/>
          </a:p>
        </p:txBody>
      </p:sp>
      <p:sp>
        <p:nvSpPr>
          <p:cNvPr id="8" name="Text 6"/>
          <p:cNvSpPr/>
          <p:nvPr/>
        </p:nvSpPr>
        <p:spPr>
          <a:xfrm>
            <a:off x="5143500" y="1565077"/>
            <a:ext cx="12950190" cy="457200"/>
          </a:xfrm>
          <a:prstGeom prst="rect">
            <a:avLst/>
          </a:prstGeom>
          <a:noFill/>
          <a:ln/>
        </p:spPr>
        <p:txBody>
          <a:bodyPr wrap="square" lIns="25400" tIns="25400" rIns="25400" bIns="25400" rtlCol="0" anchor="t">
            <a:normAutofit/>
          </a:bodyPr>
          <a:lstStyle/>
          <a:p>
            <a:pPr algn="l" indent="0" marL="0">
              <a:lnSpc>
                <a:spcPct val="112375"/>
              </a:lnSpc>
              <a:buNone/>
            </a:pPr>
            <a:r>
              <a:rPr lang="en-US" sz="1163" dirty="0">
                <a:solidFill>
                  <a:srgbClr val="3D4A5C"/>
                </a:solidFill>
                <a:latin typeface="IBM Plex Sans" pitchFamily="34" charset="0"/>
                <a:ea typeface="IBM Plex Sans" pitchFamily="34" charset="-122"/>
                <a:cs typeface="IBM Plex Sans" pitchFamily="34" charset="-120"/>
              </a:rPr>
              <a:t>Round the room: name, role, the strongest system you've built, and what you'd like to own here (informs the pod breakouts later). Director frames the mission in two sentences and how the two hours will run. New team — nobody presents to strangers after this.</a:t>
            </a:r>
            <a:endParaRPr lang="en-US" sz="1163" dirty="0"/>
          </a:p>
        </p:txBody>
      </p:sp>
      <p:sp>
        <p:nvSpPr>
          <p:cNvPr id="9" name="Shape 7"/>
          <p:cNvSpPr/>
          <p:nvPr/>
        </p:nvSpPr>
        <p:spPr>
          <a:xfrm>
            <a:off x="571500" y="2291953"/>
            <a:ext cx="17145000" cy="14288"/>
          </a:xfrm>
          <a:prstGeom prst="rect">
            <a:avLst/>
          </a:prstGeom>
          <a:solidFill>
            <a:srgbClr val="B9C2CC"/>
          </a:solidFill>
          <a:ln/>
        </p:spPr>
      </p:sp>
      <p:sp>
        <p:nvSpPr>
          <p:cNvPr id="10" name="Text 8"/>
          <p:cNvSpPr/>
          <p:nvPr/>
        </p:nvSpPr>
        <p:spPr>
          <a:xfrm>
            <a:off x="571500" y="2733080"/>
            <a:ext cx="11239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232F3E"/>
                </a:solidFill>
                <a:latin typeface="IBM Plex Mono" pitchFamily="34" charset="0"/>
                <a:ea typeface="IBM Plex Mono" pitchFamily="34" charset="-122"/>
                <a:cs typeface="IBM Plex Mono" pitchFamily="34" charset="-120"/>
              </a:rPr>
              <a:t>0:10–0:20</a:t>
            </a:r>
            <a:endParaRPr lang="en-US" sz="1125" dirty="0"/>
          </a:p>
        </p:txBody>
      </p:sp>
      <p:sp>
        <p:nvSpPr>
          <p:cNvPr id="11" name="Text 9"/>
          <p:cNvSpPr/>
          <p:nvPr/>
        </p:nvSpPr>
        <p:spPr>
          <a:xfrm>
            <a:off x="1809750" y="2628305"/>
            <a:ext cx="3457575"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232F3E"/>
                </a:solidFill>
                <a:latin typeface="IBM Plex Sans" pitchFamily="34" charset="0"/>
                <a:ea typeface="IBM Plex Sans" pitchFamily="34" charset="-122"/>
                <a:cs typeface="IBM Plex Sans" pitchFamily="34" charset="-120"/>
              </a:rPr>
              <a:t>Why end-to-end lineage</a:t>
            </a:r>
            <a:endParaRPr lang="en-US" sz="1350" dirty="0"/>
          </a:p>
        </p:txBody>
      </p:sp>
      <p:sp>
        <p:nvSpPr>
          <p:cNvPr id="12" name="Text 10"/>
          <p:cNvSpPr/>
          <p:nvPr/>
        </p:nvSpPr>
        <p:spPr>
          <a:xfrm>
            <a:off x="1809750" y="2866430"/>
            <a:ext cx="3457575" cy="190500"/>
          </a:xfrm>
          <a:prstGeom prst="rect">
            <a:avLst/>
          </a:prstGeom>
          <a:noFill/>
          <a:ln/>
        </p:spPr>
        <p:txBody>
          <a:bodyPr wrap="square" lIns="25400" tIns="25400" rIns="25400" bIns="25400" rtlCol="0" anchor="t">
            <a:normAutofit/>
          </a:bodyPr>
          <a:lstStyle/>
          <a:p>
            <a:pPr algn="l" indent="0" marL="0">
              <a:buNone/>
            </a:pPr>
            <a:r>
              <a:rPr lang="en-US" sz="938" dirty="0">
                <a:solidFill>
                  <a:srgbClr val="5F6B7A"/>
                </a:solidFill>
                <a:latin typeface="IBM Plex Sans" pitchFamily="34" charset="0"/>
                <a:ea typeface="IBM Plex Sans" pitchFamily="34" charset="-122"/>
                <a:cs typeface="IBM Plex Sans" pitchFamily="34" charset="-120"/>
              </a:rPr>
              <a:t>purpose: everyone can state the payoff unprompted</a:t>
            </a:r>
            <a:endParaRPr lang="en-US" sz="938" dirty="0"/>
          </a:p>
        </p:txBody>
      </p:sp>
      <p:sp>
        <p:nvSpPr>
          <p:cNvPr id="13" name="Text 11"/>
          <p:cNvSpPr/>
          <p:nvPr/>
        </p:nvSpPr>
        <p:spPr>
          <a:xfrm>
            <a:off x="5143500" y="2614017"/>
            <a:ext cx="12950190" cy="457200"/>
          </a:xfrm>
          <a:prstGeom prst="rect">
            <a:avLst/>
          </a:prstGeom>
          <a:noFill/>
          <a:ln/>
        </p:spPr>
        <p:txBody>
          <a:bodyPr wrap="square" lIns="25400" tIns="25400" rIns="25400" bIns="25400" rtlCol="0" anchor="t">
            <a:normAutofit/>
          </a:bodyPr>
          <a:lstStyle/>
          <a:p>
            <a:pPr algn="l" indent="0" marL="0">
              <a:lnSpc>
                <a:spcPct val="112375"/>
              </a:lnSpc>
              <a:buNone/>
            </a:pPr>
            <a:r>
              <a:rPr lang="en-US" sz="1163" dirty="0">
                <a:solidFill>
                  <a:srgbClr val="3D4A5C"/>
                </a:solidFill>
                <a:latin typeface="IBM Plex Sans" pitchFamily="34" charset="0"/>
                <a:ea typeface="IBM Plex Sans" pitchFamily="34" charset="-122"/>
                <a:cs typeface="IBM Plex Sans" pitchFamily="34" charset="-120"/>
              </a:rPr>
              <a:t>Element-level lineage across ~10,000 repos, published only after human or audited-policy approval. What it unlocks: "what breaks if I drop this column?" answered BLOCK/WARN/INFO before merge · audit-grade provenance on every edge · a PR gate engineers trust because it never bluffs.</a:t>
            </a:r>
            <a:endParaRPr lang="en-US" sz="1163" dirty="0"/>
          </a:p>
        </p:txBody>
      </p:sp>
      <p:sp>
        <p:nvSpPr>
          <p:cNvPr id="14" name="Shape 12"/>
          <p:cNvSpPr/>
          <p:nvPr/>
        </p:nvSpPr>
        <p:spPr>
          <a:xfrm>
            <a:off x="571500" y="3340894"/>
            <a:ext cx="17145000" cy="14288"/>
          </a:xfrm>
          <a:prstGeom prst="rect">
            <a:avLst/>
          </a:prstGeom>
          <a:solidFill>
            <a:srgbClr val="B9C2CC"/>
          </a:solidFill>
          <a:ln/>
        </p:spPr>
      </p:sp>
      <p:sp>
        <p:nvSpPr>
          <p:cNvPr id="15" name="Text 13"/>
          <p:cNvSpPr/>
          <p:nvPr/>
        </p:nvSpPr>
        <p:spPr>
          <a:xfrm>
            <a:off x="571500" y="3782020"/>
            <a:ext cx="11239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232F3E"/>
                </a:solidFill>
                <a:latin typeface="IBM Plex Mono" pitchFamily="34" charset="0"/>
                <a:ea typeface="IBM Plex Mono" pitchFamily="34" charset="-122"/>
                <a:cs typeface="IBM Plex Mono" pitchFamily="34" charset="-120"/>
              </a:rPr>
              <a:t>0:20–0:35</a:t>
            </a:r>
            <a:endParaRPr lang="en-US" sz="1125" dirty="0"/>
          </a:p>
        </p:txBody>
      </p:sp>
      <p:sp>
        <p:nvSpPr>
          <p:cNvPr id="16" name="Text 14"/>
          <p:cNvSpPr/>
          <p:nvPr/>
        </p:nvSpPr>
        <p:spPr>
          <a:xfrm>
            <a:off x="1809750" y="3677245"/>
            <a:ext cx="3457575"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232F3E"/>
                </a:solidFill>
                <a:latin typeface="IBM Plex Sans" pitchFamily="34" charset="0"/>
                <a:ea typeface="IBM Plex Sans" pitchFamily="34" charset="-122"/>
                <a:cs typeface="IBM Plex Sans" pitchFamily="34" charset="-120"/>
              </a:rPr>
              <a:t>Problem statement</a:t>
            </a:r>
            <a:endParaRPr lang="en-US" sz="1350" dirty="0"/>
          </a:p>
        </p:txBody>
      </p:sp>
      <p:sp>
        <p:nvSpPr>
          <p:cNvPr id="17" name="Text 15"/>
          <p:cNvSpPr/>
          <p:nvPr/>
        </p:nvSpPr>
        <p:spPr>
          <a:xfrm>
            <a:off x="1809750" y="3915370"/>
            <a:ext cx="3457575" cy="190500"/>
          </a:xfrm>
          <a:prstGeom prst="rect">
            <a:avLst/>
          </a:prstGeom>
          <a:noFill/>
          <a:ln/>
        </p:spPr>
        <p:txBody>
          <a:bodyPr wrap="square" lIns="25400" tIns="25400" rIns="25400" bIns="25400" rtlCol="0" anchor="t">
            <a:normAutofit/>
          </a:bodyPr>
          <a:lstStyle/>
          <a:p>
            <a:pPr algn="l" indent="0" marL="0">
              <a:buNone/>
            </a:pPr>
            <a:r>
              <a:rPr lang="en-US" sz="938" dirty="0">
                <a:solidFill>
                  <a:srgbClr val="5F6B7A"/>
                </a:solidFill>
                <a:latin typeface="IBM Plex Sans" pitchFamily="34" charset="0"/>
                <a:ea typeface="IBM Plex Sans" pitchFamily="34" charset="-122"/>
                <a:cs typeface="IBM Plex Sans" pitchFamily="34" charset="-120"/>
              </a:rPr>
              <a:t>purpose: respect the difficulty before designing</a:t>
            </a:r>
            <a:endParaRPr lang="en-US" sz="938" dirty="0"/>
          </a:p>
        </p:txBody>
      </p:sp>
      <p:sp>
        <p:nvSpPr>
          <p:cNvPr id="18" name="Text 16"/>
          <p:cNvSpPr/>
          <p:nvPr/>
        </p:nvSpPr>
        <p:spPr>
          <a:xfrm>
            <a:off x="5143500" y="3558183"/>
            <a:ext cx="12950190" cy="666750"/>
          </a:xfrm>
          <a:prstGeom prst="rect">
            <a:avLst/>
          </a:prstGeom>
          <a:noFill/>
          <a:ln/>
        </p:spPr>
        <p:txBody>
          <a:bodyPr wrap="square" lIns="25400" tIns="25400" rIns="25400" bIns="25400" rtlCol="0" anchor="t">
            <a:normAutofit/>
          </a:bodyPr>
          <a:lstStyle/>
          <a:p>
            <a:pPr algn="l" indent="0" marL="0">
              <a:lnSpc>
                <a:spcPct val="112375"/>
              </a:lnSpc>
              <a:buNone/>
            </a:pPr>
            <a:r>
              <a:rPr lang="en-US" sz="1163" dirty="0">
                <a:solidFill>
                  <a:srgbClr val="3D4A5C"/>
                </a:solidFill>
                <a:latin typeface="IBM Plex Sans" pitchFamily="34" charset="0"/>
                <a:ea typeface="IBM Plex Sans" pitchFamily="34" charset="-122"/>
                <a:cs typeface="IBM Plex Sans" pitchFamily="34" charset="-120"/>
              </a:rPr>
              <a:t>Why naive approaches fail: names differ everywhere (aliases, shards, temp tables) · static analysis can't see dynamic names · docs decay · an LLM alone hallucinates · runtime alone proves execution, not intent. The answer: three independent engines whose </a:t>
            </a:r>
            <a:pPr algn="l" indent="0" marL="0">
              <a:lnSpc>
                <a:spcPct val="112375"/>
              </a:lnSpc>
              <a:buNone/>
            </a:pPr>
            <a:r>
              <a:rPr lang="en-US" sz="1163" b="1" dirty="0">
                <a:solidFill>
                  <a:srgbClr val="3D4A5C"/>
                </a:solidFill>
                <a:latin typeface="IBM Plex Sans" pitchFamily="34" charset="0"/>
                <a:ea typeface="IBM Plex Sans" pitchFamily="34" charset="-122"/>
                <a:cs typeface="IBM Plex Sans" pitchFamily="34" charset="-120"/>
              </a:rPr>
              <a:t>agreement </a:t>
            </a:r>
            <a:pPr algn="l" indent="0" marL="0">
              <a:lnSpc>
                <a:spcPct val="112375"/>
              </a:lnSpc>
              <a:buNone/>
            </a:pPr>
            <a:r>
              <a:rPr lang="en-US" sz="1163" dirty="0">
                <a:solidFill>
                  <a:srgbClr val="3D4A5C"/>
                </a:solidFill>
                <a:latin typeface="IBM Plex Sans" pitchFamily="34" charset="0"/>
                <a:ea typeface="IBM Plex Sans" pitchFamily="34" charset="-122"/>
                <a:cs typeface="IBM Plex Sans" pitchFamily="34" charset="-120"/>
              </a:rPr>
              <a:t>sets confidence, on one catalog-backed URN grammar — a guessed name is a defect; absence is never negative evidence.</a:t>
            </a:r>
            <a:endParaRPr lang="en-US" sz="1163" dirty="0"/>
          </a:p>
        </p:txBody>
      </p:sp>
      <p:sp>
        <p:nvSpPr>
          <p:cNvPr id="19" name="Shape 17"/>
          <p:cNvSpPr/>
          <p:nvPr/>
        </p:nvSpPr>
        <p:spPr>
          <a:xfrm>
            <a:off x="571500" y="4389834"/>
            <a:ext cx="17145000" cy="14288"/>
          </a:xfrm>
          <a:prstGeom prst="rect">
            <a:avLst/>
          </a:prstGeom>
          <a:solidFill>
            <a:srgbClr val="B9C2CC"/>
          </a:solidFill>
          <a:ln/>
        </p:spPr>
      </p:sp>
      <p:sp>
        <p:nvSpPr>
          <p:cNvPr id="20" name="Text 18"/>
          <p:cNvSpPr/>
          <p:nvPr/>
        </p:nvSpPr>
        <p:spPr>
          <a:xfrm>
            <a:off x="571500" y="4830961"/>
            <a:ext cx="11239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232F3E"/>
                </a:solidFill>
                <a:latin typeface="IBM Plex Mono" pitchFamily="34" charset="0"/>
                <a:ea typeface="IBM Plex Mono" pitchFamily="34" charset="-122"/>
                <a:cs typeface="IBM Plex Mono" pitchFamily="34" charset="-120"/>
              </a:rPr>
              <a:t>0:35–0:50</a:t>
            </a:r>
            <a:endParaRPr lang="en-US" sz="1125" dirty="0"/>
          </a:p>
        </p:txBody>
      </p:sp>
      <p:sp>
        <p:nvSpPr>
          <p:cNvPr id="21" name="Text 19"/>
          <p:cNvSpPr/>
          <p:nvPr/>
        </p:nvSpPr>
        <p:spPr>
          <a:xfrm>
            <a:off x="1809750" y="4726186"/>
            <a:ext cx="3457575"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232F3E"/>
                </a:solidFill>
                <a:latin typeface="IBM Plex Sans" pitchFamily="34" charset="0"/>
                <a:ea typeface="IBM Plex Sans" pitchFamily="34" charset="-122"/>
                <a:cs typeface="IBM Plex Sans" pitchFamily="34" charset="-120"/>
              </a:rPr>
              <a:t>Operating model</a:t>
            </a:r>
            <a:endParaRPr lang="en-US" sz="1350" dirty="0"/>
          </a:p>
        </p:txBody>
      </p:sp>
      <p:sp>
        <p:nvSpPr>
          <p:cNvPr id="22" name="Text 20"/>
          <p:cNvSpPr/>
          <p:nvPr/>
        </p:nvSpPr>
        <p:spPr>
          <a:xfrm>
            <a:off x="1809750" y="4964311"/>
            <a:ext cx="3457575" cy="190500"/>
          </a:xfrm>
          <a:prstGeom prst="rect">
            <a:avLst/>
          </a:prstGeom>
          <a:noFill/>
          <a:ln/>
        </p:spPr>
        <p:txBody>
          <a:bodyPr wrap="square" lIns="25400" tIns="25400" rIns="25400" bIns="25400" rtlCol="0" anchor="t">
            <a:normAutofit/>
          </a:bodyPr>
          <a:lstStyle/>
          <a:p>
            <a:pPr algn="l" indent="0" marL="0">
              <a:buNone/>
            </a:pPr>
            <a:r>
              <a:rPr lang="en-US" sz="938" dirty="0">
                <a:solidFill>
                  <a:srgbClr val="5F6B7A"/>
                </a:solidFill>
                <a:latin typeface="IBM Plex Sans" pitchFamily="34" charset="0"/>
                <a:ea typeface="IBM Plex Sans" pitchFamily="34" charset="-122"/>
                <a:cs typeface="IBM Plex Sans" pitchFamily="34" charset="-120"/>
              </a:rPr>
              <a:t>purpose: internalize the rules the team must never break</a:t>
            </a:r>
            <a:endParaRPr lang="en-US" sz="938" dirty="0"/>
          </a:p>
        </p:txBody>
      </p:sp>
      <p:sp>
        <p:nvSpPr>
          <p:cNvPr id="23" name="Text 21"/>
          <p:cNvSpPr/>
          <p:nvPr/>
        </p:nvSpPr>
        <p:spPr>
          <a:xfrm>
            <a:off x="5143500" y="4711898"/>
            <a:ext cx="12950190" cy="457200"/>
          </a:xfrm>
          <a:prstGeom prst="rect">
            <a:avLst/>
          </a:prstGeom>
          <a:noFill/>
          <a:ln/>
        </p:spPr>
        <p:txBody>
          <a:bodyPr wrap="square" lIns="25400" tIns="25400" rIns="25400" bIns="25400" rtlCol="0" anchor="t">
            <a:normAutofit/>
          </a:bodyPr>
          <a:lstStyle/>
          <a:p>
            <a:pPr algn="l" indent="0" marL="0">
              <a:lnSpc>
                <a:spcPct val="112375"/>
              </a:lnSpc>
              <a:buNone/>
            </a:pPr>
            <a:r>
              <a:rPr lang="en-US" sz="1163" dirty="0">
                <a:solidFill>
                  <a:srgbClr val="3D4A5C"/>
                </a:solidFill>
                <a:latin typeface="IBM Plex Sans" pitchFamily="34" charset="0"/>
                <a:ea typeface="IBM Plex Sans" pitchFamily="34" charset="-122"/>
                <a:cs typeface="IBM Plex Sans" pitchFamily="34" charset="-120"/>
              </a:rPr>
              <a:t>The rules, not the boxes: EventBridge routes, SQS buffers, Step Functions coordinates, Fargate analyzes, S3 preserves, DynamoDB controls, Neptune traverses — a human (or audited policy) approves. LLM proposes, never gates. S3 is immutable truth. Every hop carries correlation. Gates are measured, never asserted.</a:t>
            </a:r>
            <a:endParaRPr lang="en-US" sz="1163" dirty="0"/>
          </a:p>
        </p:txBody>
      </p:sp>
      <p:sp>
        <p:nvSpPr>
          <p:cNvPr id="24" name="Shape 22"/>
          <p:cNvSpPr/>
          <p:nvPr/>
        </p:nvSpPr>
        <p:spPr>
          <a:xfrm>
            <a:off x="571500" y="5438775"/>
            <a:ext cx="17145000" cy="14288"/>
          </a:xfrm>
          <a:prstGeom prst="rect">
            <a:avLst/>
          </a:prstGeom>
          <a:solidFill>
            <a:srgbClr val="B9C2CC"/>
          </a:solidFill>
          <a:ln/>
        </p:spPr>
      </p:sp>
      <p:sp>
        <p:nvSpPr>
          <p:cNvPr id="25" name="Text 23"/>
          <p:cNvSpPr/>
          <p:nvPr/>
        </p:nvSpPr>
        <p:spPr>
          <a:xfrm>
            <a:off x="571500" y="5519738"/>
            <a:ext cx="11239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7D8998"/>
                </a:solidFill>
                <a:latin typeface="IBM Plex Mono" pitchFamily="34" charset="0"/>
                <a:ea typeface="IBM Plex Mono" pitchFamily="34" charset="-122"/>
                <a:cs typeface="IBM Plex Mono" pitchFamily="34" charset="-120"/>
              </a:rPr>
              <a:t>0:50–0:55</a:t>
            </a:r>
            <a:endParaRPr lang="en-US" sz="1125" dirty="0"/>
          </a:p>
        </p:txBody>
      </p:sp>
      <p:sp>
        <p:nvSpPr>
          <p:cNvPr id="26" name="Text 24"/>
          <p:cNvSpPr/>
          <p:nvPr/>
        </p:nvSpPr>
        <p:spPr>
          <a:xfrm>
            <a:off x="1809750" y="5524500"/>
            <a:ext cx="4794602" cy="209550"/>
          </a:xfrm>
          <a:prstGeom prst="rect">
            <a:avLst/>
          </a:prstGeom>
          <a:noFill/>
          <a:ln/>
        </p:spPr>
        <p:txBody>
          <a:bodyPr wrap="square" lIns="25400" tIns="25400" rIns="25400" bIns="25400" rtlCol="0" anchor="t">
            <a:normAutofit/>
          </a:bodyPr>
          <a:lstStyle/>
          <a:p>
            <a:pPr algn="l" indent="0" marL="0">
              <a:buNone/>
            </a:pPr>
            <a:r>
              <a:rPr lang="en-US" sz="1050" spc="150" kern="0" dirty="0">
                <a:solidFill>
                  <a:srgbClr val="7D8998"/>
                </a:solidFill>
                <a:latin typeface="IBM Plex Mono" pitchFamily="34" charset="0"/>
                <a:ea typeface="IBM Plex Mono" pitchFamily="34" charset="-122"/>
                <a:cs typeface="IBM Plex Mono" pitchFamily="34" charset="-120"/>
              </a:rPr>
              <a:t>BREAK · 5 MIN — coffee before the deep block</a:t>
            </a:r>
            <a:endParaRPr lang="en-US" sz="1050" dirty="0"/>
          </a:p>
        </p:txBody>
      </p:sp>
      <p:sp>
        <p:nvSpPr>
          <p:cNvPr id="27" name="Shape 25"/>
          <p:cNvSpPr/>
          <p:nvPr/>
        </p:nvSpPr>
        <p:spPr>
          <a:xfrm>
            <a:off x="419100" y="5767388"/>
            <a:ext cx="17449800" cy="1048941"/>
          </a:xfrm>
          <a:prstGeom prst="roundRect">
            <a:avLst>
              <a:gd name="adj" fmla="val 5448"/>
            </a:avLst>
          </a:prstGeom>
          <a:solidFill>
            <a:srgbClr val="FDF0DC"/>
          </a:solidFill>
          <a:ln/>
        </p:spPr>
      </p:sp>
      <p:sp>
        <p:nvSpPr>
          <p:cNvPr id="28" name="Shape 26"/>
          <p:cNvSpPr/>
          <p:nvPr/>
        </p:nvSpPr>
        <p:spPr>
          <a:xfrm>
            <a:off x="419100" y="5767388"/>
            <a:ext cx="17449800" cy="14288"/>
          </a:xfrm>
          <a:prstGeom prst="rect">
            <a:avLst/>
          </a:prstGeom>
          <a:solidFill>
            <a:srgbClr val="B9C2CC"/>
          </a:solidFill>
          <a:ln/>
        </p:spPr>
      </p:sp>
      <p:sp>
        <p:nvSpPr>
          <p:cNvPr id="29" name="Text 27"/>
          <p:cNvSpPr/>
          <p:nvPr/>
        </p:nvSpPr>
        <p:spPr>
          <a:xfrm>
            <a:off x="571500" y="6208514"/>
            <a:ext cx="11239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232F3E"/>
                </a:solidFill>
                <a:latin typeface="IBM Plex Mono" pitchFamily="34" charset="0"/>
                <a:ea typeface="IBM Plex Mono" pitchFamily="34" charset="-122"/>
                <a:cs typeface="IBM Plex Mono" pitchFamily="34" charset="-120"/>
              </a:rPr>
              <a:t>0:55–1:25</a:t>
            </a:r>
            <a:endParaRPr lang="en-US" sz="1125" dirty="0"/>
          </a:p>
        </p:txBody>
      </p:sp>
      <p:sp>
        <p:nvSpPr>
          <p:cNvPr id="30" name="Text 28"/>
          <p:cNvSpPr/>
          <p:nvPr/>
        </p:nvSpPr>
        <p:spPr>
          <a:xfrm>
            <a:off x="1809750" y="6027539"/>
            <a:ext cx="3457575"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232F3E"/>
                </a:solidFill>
                <a:latin typeface="IBM Plex Sans" pitchFamily="34" charset="0"/>
                <a:ea typeface="IBM Plex Sans" pitchFamily="34" charset="-122"/>
                <a:cs typeface="IBM Plex Sans" pitchFamily="34" charset="-120"/>
              </a:rPr>
              <a:t>Design discussion &amp; alignment</a:t>
            </a:r>
            <a:endParaRPr lang="en-US" sz="1350" dirty="0"/>
          </a:p>
        </p:txBody>
      </p:sp>
      <p:sp>
        <p:nvSpPr>
          <p:cNvPr id="31" name="Text 29"/>
          <p:cNvSpPr/>
          <p:nvPr/>
        </p:nvSpPr>
        <p:spPr>
          <a:xfrm>
            <a:off x="1809750" y="6265664"/>
            <a:ext cx="3237548" cy="342900"/>
          </a:xfrm>
          <a:prstGeom prst="rect">
            <a:avLst/>
          </a:prstGeom>
          <a:noFill/>
          <a:ln/>
        </p:spPr>
        <p:txBody>
          <a:bodyPr wrap="square" lIns="25400" tIns="25400" rIns="25400" bIns="25400" rtlCol="0" anchor="t">
            <a:normAutofit/>
          </a:bodyPr>
          <a:lstStyle/>
          <a:p>
            <a:pPr algn="l" indent="0" marL="0">
              <a:buNone/>
            </a:pPr>
            <a:r>
              <a:rPr lang="en-US" sz="938" dirty="0">
                <a:solidFill>
                  <a:srgbClr val="C8511B"/>
                </a:solidFill>
                <a:latin typeface="IBM Plex Mono" pitchFamily="34" charset="0"/>
                <a:ea typeface="IBM Plex Mono" pitchFamily="34" charset="-122"/>
                <a:cs typeface="IBM Plex Mono" pitchFamily="34" charset="-120"/>
              </a:rPr>
              <a:t>BIGGEST BLOCK · 30 MIN · purpose: objections now, not week 6</a:t>
            </a:r>
            <a:endParaRPr lang="en-US" sz="938" dirty="0"/>
          </a:p>
        </p:txBody>
      </p:sp>
      <p:sp>
        <p:nvSpPr>
          <p:cNvPr id="32" name="Text 30"/>
          <p:cNvSpPr/>
          <p:nvPr/>
        </p:nvSpPr>
        <p:spPr>
          <a:xfrm>
            <a:off x="5143500" y="6089452"/>
            <a:ext cx="12950190" cy="457200"/>
          </a:xfrm>
          <a:prstGeom prst="rect">
            <a:avLst/>
          </a:prstGeom>
          <a:noFill/>
          <a:ln/>
        </p:spPr>
        <p:txBody>
          <a:bodyPr wrap="square" lIns="25400" tIns="25400" rIns="25400" bIns="25400" rtlCol="0" anchor="t">
            <a:normAutofit/>
          </a:bodyPr>
          <a:lstStyle/>
          <a:p>
            <a:pPr algn="l" indent="0" marL="0">
              <a:lnSpc>
                <a:spcPct val="112375"/>
              </a:lnSpc>
              <a:buNone/>
            </a:pPr>
            <a:r>
              <a:rPr lang="en-US" sz="1163" dirty="0">
                <a:solidFill>
                  <a:srgbClr val="3D4A5C"/>
                </a:solidFill>
                <a:latin typeface="IBM Plex Sans" pitchFamily="34" charset="0"/>
                <a:ea typeface="IBM Plex Sans" pitchFamily="34" charset="-122"/>
                <a:cs typeface="IBM Plex Sans" pitchFamily="34" charset="-120"/>
              </a:rPr>
              <a:t>Walk the architecture deck, then the payments-pipeline walkthrough end to end (push → evidence → fusion → confidence → fenced publish). Where the room gets a vote: the seven contract freezes F1–F7 · CodeQL-vs-tree-sitter spike criteria · OTel timing (corroboration is post-launch-safe) · reviewer economics and the auto-publish narrowing valve.</a:t>
            </a:r>
            <a:endParaRPr lang="en-US" sz="1163" dirty="0"/>
          </a:p>
        </p:txBody>
      </p:sp>
      <p:sp>
        <p:nvSpPr>
          <p:cNvPr id="33" name="Shape 31"/>
          <p:cNvSpPr/>
          <p:nvPr/>
        </p:nvSpPr>
        <p:spPr>
          <a:xfrm>
            <a:off x="571500" y="6816328"/>
            <a:ext cx="17145000" cy="14288"/>
          </a:xfrm>
          <a:prstGeom prst="rect">
            <a:avLst/>
          </a:prstGeom>
          <a:solidFill>
            <a:srgbClr val="B9C2CC"/>
          </a:solidFill>
          <a:ln/>
        </p:spPr>
      </p:sp>
      <p:sp>
        <p:nvSpPr>
          <p:cNvPr id="34" name="Text 32"/>
          <p:cNvSpPr/>
          <p:nvPr/>
        </p:nvSpPr>
        <p:spPr>
          <a:xfrm>
            <a:off x="571500" y="7257455"/>
            <a:ext cx="11239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232F3E"/>
                </a:solidFill>
                <a:latin typeface="IBM Plex Mono" pitchFamily="34" charset="0"/>
                <a:ea typeface="IBM Plex Mono" pitchFamily="34" charset="-122"/>
                <a:cs typeface="IBM Plex Mono" pitchFamily="34" charset="-120"/>
              </a:rPr>
              <a:t>1:25–1:45</a:t>
            </a:r>
            <a:endParaRPr lang="en-US" sz="1125" dirty="0"/>
          </a:p>
        </p:txBody>
      </p:sp>
      <p:sp>
        <p:nvSpPr>
          <p:cNvPr id="35" name="Text 33"/>
          <p:cNvSpPr/>
          <p:nvPr/>
        </p:nvSpPr>
        <p:spPr>
          <a:xfrm>
            <a:off x="1809750" y="7152680"/>
            <a:ext cx="3457575"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232F3E"/>
                </a:solidFill>
                <a:latin typeface="IBM Plex Sans" pitchFamily="34" charset="0"/>
                <a:ea typeface="IBM Plex Sans" pitchFamily="34" charset="-122"/>
                <a:cs typeface="IBM Plex Sans" pitchFamily="34" charset="-120"/>
              </a:rPr>
              <a:t>Work scope — the team decides</a:t>
            </a:r>
            <a:endParaRPr lang="en-US" sz="1350" dirty="0"/>
          </a:p>
        </p:txBody>
      </p:sp>
      <p:sp>
        <p:nvSpPr>
          <p:cNvPr id="36" name="Text 34"/>
          <p:cNvSpPr/>
          <p:nvPr/>
        </p:nvSpPr>
        <p:spPr>
          <a:xfrm>
            <a:off x="1809750" y="7390805"/>
            <a:ext cx="3457575" cy="190500"/>
          </a:xfrm>
          <a:prstGeom prst="rect">
            <a:avLst/>
          </a:prstGeom>
          <a:noFill/>
          <a:ln/>
        </p:spPr>
        <p:txBody>
          <a:bodyPr wrap="square" lIns="25400" tIns="25400" rIns="25400" bIns="25400" rtlCol="0" anchor="t">
            <a:normAutofit/>
          </a:bodyPr>
          <a:lstStyle/>
          <a:p>
            <a:pPr algn="l" indent="0" marL="0">
              <a:buNone/>
            </a:pPr>
            <a:r>
              <a:rPr lang="en-US" sz="938" dirty="0">
                <a:solidFill>
                  <a:srgbClr val="5F6B7A"/>
                </a:solidFill>
                <a:latin typeface="IBM Plex Sans" pitchFamily="34" charset="0"/>
                <a:ea typeface="IBM Plex Sans" pitchFamily="34" charset="-122"/>
                <a:cs typeface="IBM Plex Sans" pitchFamily="34" charset="-120"/>
              </a:rPr>
              <a:t>purpose: the split is proposed by the room, not dictated</a:t>
            </a:r>
            <a:endParaRPr lang="en-US" sz="938" dirty="0"/>
          </a:p>
        </p:txBody>
      </p:sp>
      <p:sp>
        <p:nvSpPr>
          <p:cNvPr id="37" name="Text 35"/>
          <p:cNvSpPr/>
          <p:nvPr/>
        </p:nvSpPr>
        <p:spPr>
          <a:xfrm>
            <a:off x="5143500" y="7138392"/>
            <a:ext cx="12950190" cy="457200"/>
          </a:xfrm>
          <a:prstGeom prst="rect">
            <a:avLst/>
          </a:prstGeom>
          <a:noFill/>
          <a:ln/>
        </p:spPr>
        <p:txBody>
          <a:bodyPr wrap="square" lIns="25400" tIns="25400" rIns="25400" bIns="25400" rtlCol="0" anchor="t">
            <a:normAutofit/>
          </a:bodyPr>
          <a:lstStyle/>
          <a:p>
            <a:pPr algn="l" indent="0" marL="0">
              <a:lnSpc>
                <a:spcPct val="112375"/>
              </a:lnSpc>
              <a:buNone/>
            </a:pPr>
            <a:r>
              <a:rPr lang="en-US" sz="1163" dirty="0">
                <a:solidFill>
                  <a:srgbClr val="3D4A5C"/>
                </a:solidFill>
                <a:latin typeface="IBM Plex Sans" pitchFamily="34" charset="0"/>
                <a:ea typeface="IBM Plex Sans" pitchFamily="34" charset="-122"/>
                <a:cs typeface="IBM Plex Sans" pitchFamily="34" charset="-120"/>
              </a:rPr>
              <a:t>Leadership brings the constraints, not the answer: the component map, the dependency graph, and the seven contract freezes any split must respect. The pod slide that follows is one </a:t>
            </a:r>
            <a:pPr algn="l" indent="0" marL="0">
              <a:lnSpc>
                <a:spcPct val="112375"/>
              </a:lnSpc>
              <a:buNone/>
            </a:pPr>
            <a:r>
              <a:rPr lang="en-US" sz="1163" b="1" dirty="0">
                <a:solidFill>
                  <a:srgbClr val="3D4A5C"/>
                </a:solidFill>
                <a:latin typeface="IBM Plex Sans" pitchFamily="34" charset="0"/>
                <a:ea typeface="IBM Plex Sans" pitchFamily="34" charset="-122"/>
                <a:cs typeface="IBM Plex Sans" pitchFamily="34" charset="-120"/>
              </a:rPr>
              <a:t>strawman </a:t>
            </a:r>
            <a:pPr algn="l" indent="0" marL="0">
              <a:lnSpc>
                <a:spcPct val="112375"/>
              </a:lnSpc>
              <a:buNone/>
            </a:pPr>
            <a:r>
              <a:rPr lang="en-US" sz="1163" dirty="0">
                <a:solidFill>
                  <a:srgbClr val="3D4A5C"/>
                </a:solidFill>
                <a:latin typeface="IBM Plex Sans" pitchFamily="34" charset="0"/>
                <a:ea typeface="IBM Plex Sans" pitchFamily="34" charset="-122"/>
                <a:cs typeface="IBM Plex Sans" pitchFamily="34" charset="-120"/>
              </a:rPr>
              <a:t>to react to — the team proposes and agrees its own cut. Non-negotiables: every component has exactly one owner, and the week-8 walking skeleton date holds.</a:t>
            </a:r>
            <a:endParaRPr lang="en-US" sz="1163" dirty="0"/>
          </a:p>
        </p:txBody>
      </p:sp>
      <p:sp>
        <p:nvSpPr>
          <p:cNvPr id="38" name="Shape 36"/>
          <p:cNvSpPr/>
          <p:nvPr/>
        </p:nvSpPr>
        <p:spPr>
          <a:xfrm>
            <a:off x="571500" y="7865269"/>
            <a:ext cx="17145000" cy="14288"/>
          </a:xfrm>
          <a:prstGeom prst="rect">
            <a:avLst/>
          </a:prstGeom>
          <a:solidFill>
            <a:srgbClr val="B9C2CC"/>
          </a:solidFill>
          <a:ln/>
        </p:spPr>
      </p:sp>
      <p:sp>
        <p:nvSpPr>
          <p:cNvPr id="39" name="Text 37"/>
          <p:cNvSpPr/>
          <p:nvPr/>
        </p:nvSpPr>
        <p:spPr>
          <a:xfrm>
            <a:off x="571500" y="8306395"/>
            <a:ext cx="11239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232F3E"/>
                </a:solidFill>
                <a:latin typeface="IBM Plex Mono" pitchFamily="34" charset="0"/>
                <a:ea typeface="IBM Plex Mono" pitchFamily="34" charset="-122"/>
                <a:cs typeface="IBM Plex Mono" pitchFamily="34" charset="-120"/>
              </a:rPr>
              <a:t>1:45–1:55</a:t>
            </a:r>
            <a:endParaRPr lang="en-US" sz="1125" dirty="0"/>
          </a:p>
        </p:txBody>
      </p:sp>
      <p:sp>
        <p:nvSpPr>
          <p:cNvPr id="40" name="Text 38"/>
          <p:cNvSpPr/>
          <p:nvPr/>
        </p:nvSpPr>
        <p:spPr>
          <a:xfrm>
            <a:off x="1809750" y="8201620"/>
            <a:ext cx="3457575"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232F3E"/>
                </a:solidFill>
                <a:latin typeface="IBM Plex Sans" pitchFamily="34" charset="0"/>
                <a:ea typeface="IBM Plex Sans" pitchFamily="34" charset="-122"/>
                <a:cs typeface="IBM Plex Sans" pitchFamily="34" charset="-120"/>
              </a:rPr>
              <a:t>Pod breakouts</a:t>
            </a:r>
            <a:endParaRPr lang="en-US" sz="1350" dirty="0"/>
          </a:p>
        </p:txBody>
      </p:sp>
      <p:sp>
        <p:nvSpPr>
          <p:cNvPr id="41" name="Text 39"/>
          <p:cNvSpPr/>
          <p:nvPr/>
        </p:nvSpPr>
        <p:spPr>
          <a:xfrm>
            <a:off x="1809750" y="8439745"/>
            <a:ext cx="3457575" cy="190500"/>
          </a:xfrm>
          <a:prstGeom prst="rect">
            <a:avLst/>
          </a:prstGeom>
          <a:noFill/>
          <a:ln/>
        </p:spPr>
        <p:txBody>
          <a:bodyPr wrap="square" lIns="25400" tIns="25400" rIns="25400" bIns="25400" rtlCol="0" anchor="t">
            <a:normAutofit/>
          </a:bodyPr>
          <a:lstStyle/>
          <a:p>
            <a:pPr algn="l" indent="0" marL="0">
              <a:buNone/>
            </a:pPr>
            <a:r>
              <a:rPr lang="en-US" sz="938" dirty="0">
                <a:solidFill>
                  <a:srgbClr val="5F6B7A"/>
                </a:solidFill>
                <a:latin typeface="IBM Plex Sans" pitchFamily="34" charset="0"/>
                <a:ea typeface="IBM Plex Sans" pitchFamily="34" charset="-122"/>
                <a:cs typeface="IBM Plex Sans" pitchFamily="34" charset="-120"/>
              </a:rPr>
              <a:t>purpose: turn scope into a first commitment</a:t>
            </a:r>
            <a:endParaRPr lang="en-US" sz="938" dirty="0"/>
          </a:p>
        </p:txBody>
      </p:sp>
      <p:sp>
        <p:nvSpPr>
          <p:cNvPr id="42" name="Text 40"/>
          <p:cNvSpPr/>
          <p:nvPr/>
        </p:nvSpPr>
        <p:spPr>
          <a:xfrm>
            <a:off x="5143500" y="8187333"/>
            <a:ext cx="12950190" cy="457200"/>
          </a:xfrm>
          <a:prstGeom prst="rect">
            <a:avLst/>
          </a:prstGeom>
          <a:noFill/>
          <a:ln/>
        </p:spPr>
        <p:txBody>
          <a:bodyPr wrap="square" lIns="25400" tIns="25400" rIns="25400" bIns="25400" rtlCol="0" anchor="t">
            <a:normAutofit/>
          </a:bodyPr>
          <a:lstStyle/>
          <a:p>
            <a:pPr algn="l" indent="0" marL="0">
              <a:lnSpc>
                <a:spcPct val="112375"/>
              </a:lnSpc>
              <a:buNone/>
            </a:pPr>
            <a:r>
              <a:rPr lang="en-US" sz="1163" dirty="0">
                <a:solidFill>
                  <a:srgbClr val="3D4A5C"/>
                </a:solidFill>
                <a:latin typeface="IBM Plex Sans" pitchFamily="34" charset="0"/>
                <a:ea typeface="IBM Plex Sans" pitchFamily="34" charset="-122"/>
                <a:cs typeface="IBM Plex Sans" pitchFamily="34" charset="-120"/>
              </a:rPr>
              <a:t>The pods the team just formed huddle for ten minutes: pick an owner, a week-1 deliverable, and name the contracts they provide and consume. Leadership floats between pods; unresolved picks go to the decision log, not the parking lot.</a:t>
            </a:r>
            <a:endParaRPr lang="en-US" sz="1163" dirty="0"/>
          </a:p>
        </p:txBody>
      </p:sp>
      <p:sp>
        <p:nvSpPr>
          <p:cNvPr id="43" name="Shape 41"/>
          <p:cNvSpPr/>
          <p:nvPr/>
        </p:nvSpPr>
        <p:spPr>
          <a:xfrm>
            <a:off x="571500" y="9963150"/>
            <a:ext cx="17145000" cy="19050"/>
          </a:xfrm>
          <a:prstGeom prst="rect">
            <a:avLst/>
          </a:prstGeom>
          <a:solidFill>
            <a:srgbClr val="232F3E"/>
          </a:solidFill>
          <a:ln/>
        </p:spPr>
      </p:sp>
      <p:sp>
        <p:nvSpPr>
          <p:cNvPr id="44" name="Shape 42"/>
          <p:cNvSpPr/>
          <p:nvPr/>
        </p:nvSpPr>
        <p:spPr>
          <a:xfrm>
            <a:off x="571500" y="8914209"/>
            <a:ext cx="17145000" cy="14288"/>
          </a:xfrm>
          <a:prstGeom prst="rect">
            <a:avLst/>
          </a:prstGeom>
          <a:solidFill>
            <a:srgbClr val="B9C2CC"/>
          </a:solidFill>
          <a:ln/>
        </p:spPr>
      </p:sp>
      <p:sp>
        <p:nvSpPr>
          <p:cNvPr id="45" name="Text 43"/>
          <p:cNvSpPr/>
          <p:nvPr/>
        </p:nvSpPr>
        <p:spPr>
          <a:xfrm>
            <a:off x="571500" y="9355336"/>
            <a:ext cx="1123950" cy="219075"/>
          </a:xfrm>
          <a:prstGeom prst="rect">
            <a:avLst/>
          </a:prstGeom>
          <a:noFill/>
          <a:ln/>
        </p:spPr>
        <p:txBody>
          <a:bodyPr wrap="square" lIns="25400" tIns="25400" rIns="25400" bIns="25400" rtlCol="0" anchor="t">
            <a:normAutofit/>
          </a:bodyPr>
          <a:lstStyle/>
          <a:p>
            <a:pPr algn="l" indent="0" marL="0">
              <a:buNone/>
            </a:pPr>
            <a:r>
              <a:rPr lang="en-US" sz="1125" b="1" dirty="0">
                <a:solidFill>
                  <a:srgbClr val="232F3E"/>
                </a:solidFill>
                <a:latin typeface="IBM Plex Mono" pitchFamily="34" charset="0"/>
                <a:ea typeface="IBM Plex Mono" pitchFamily="34" charset="-122"/>
                <a:cs typeface="IBM Plex Mono" pitchFamily="34" charset="-120"/>
              </a:rPr>
              <a:t>1:55–2:00</a:t>
            </a:r>
            <a:endParaRPr lang="en-US" sz="1125" dirty="0"/>
          </a:p>
        </p:txBody>
      </p:sp>
      <p:sp>
        <p:nvSpPr>
          <p:cNvPr id="46" name="Text 44"/>
          <p:cNvSpPr/>
          <p:nvPr/>
        </p:nvSpPr>
        <p:spPr>
          <a:xfrm>
            <a:off x="1809750" y="9250561"/>
            <a:ext cx="3457575" cy="257175"/>
          </a:xfrm>
          <a:prstGeom prst="rect">
            <a:avLst/>
          </a:prstGeom>
          <a:noFill/>
          <a:ln/>
        </p:spPr>
        <p:txBody>
          <a:bodyPr wrap="square" lIns="25400" tIns="25400" rIns="25400" bIns="25400" rtlCol="0" anchor="t">
            <a:normAutofit/>
          </a:bodyPr>
          <a:lstStyle/>
          <a:p>
            <a:pPr algn="l" indent="0" marL="0">
              <a:buNone/>
            </a:pPr>
            <a:r>
              <a:rPr lang="en-US" sz="1350" b="1" dirty="0">
                <a:solidFill>
                  <a:srgbClr val="232F3E"/>
                </a:solidFill>
                <a:latin typeface="IBM Plex Sans" pitchFamily="34" charset="0"/>
                <a:ea typeface="IBM Plex Sans" pitchFamily="34" charset="-122"/>
                <a:cs typeface="IBM Plex Sans" pitchFamily="34" charset="-120"/>
              </a:rPr>
              <a:t>Commitments &amp; close</a:t>
            </a:r>
            <a:endParaRPr lang="en-US" sz="1350" dirty="0"/>
          </a:p>
        </p:txBody>
      </p:sp>
      <p:sp>
        <p:nvSpPr>
          <p:cNvPr id="47" name="Text 45"/>
          <p:cNvSpPr/>
          <p:nvPr/>
        </p:nvSpPr>
        <p:spPr>
          <a:xfrm>
            <a:off x="1809750" y="9488686"/>
            <a:ext cx="3457575" cy="190500"/>
          </a:xfrm>
          <a:prstGeom prst="rect">
            <a:avLst/>
          </a:prstGeom>
          <a:noFill/>
          <a:ln/>
        </p:spPr>
        <p:txBody>
          <a:bodyPr wrap="square" lIns="25400" tIns="25400" rIns="25400" bIns="25400" rtlCol="0" anchor="t">
            <a:normAutofit/>
          </a:bodyPr>
          <a:lstStyle/>
          <a:p>
            <a:pPr algn="l" indent="0" marL="0">
              <a:buNone/>
            </a:pPr>
            <a:r>
              <a:rPr lang="en-US" sz="938" dirty="0">
                <a:solidFill>
                  <a:srgbClr val="5F6B7A"/>
                </a:solidFill>
                <a:latin typeface="IBM Plex Sans" pitchFamily="34" charset="0"/>
                <a:ea typeface="IBM Plex Sans" pitchFamily="34" charset="-122"/>
                <a:cs typeface="IBM Plex Sans" pitchFamily="34" charset="-120"/>
              </a:rPr>
              <a:t>purpose: leave with owners and dates, aloud</a:t>
            </a:r>
            <a:endParaRPr lang="en-US" sz="938" dirty="0"/>
          </a:p>
        </p:txBody>
      </p:sp>
      <p:sp>
        <p:nvSpPr>
          <p:cNvPr id="48" name="Text 46"/>
          <p:cNvSpPr/>
          <p:nvPr/>
        </p:nvSpPr>
        <p:spPr>
          <a:xfrm>
            <a:off x="5143500" y="9236273"/>
            <a:ext cx="12950190" cy="457200"/>
          </a:xfrm>
          <a:prstGeom prst="rect">
            <a:avLst/>
          </a:prstGeom>
          <a:noFill/>
          <a:ln/>
        </p:spPr>
        <p:txBody>
          <a:bodyPr wrap="square" lIns="25400" tIns="25400" rIns="25400" bIns="25400" rtlCol="0" anchor="t">
            <a:normAutofit/>
          </a:bodyPr>
          <a:lstStyle/>
          <a:p>
            <a:pPr algn="l" indent="0" marL="0">
              <a:lnSpc>
                <a:spcPct val="112375"/>
              </a:lnSpc>
              <a:buNone/>
            </a:pPr>
            <a:r>
              <a:rPr lang="en-US" sz="1163" dirty="0">
                <a:solidFill>
                  <a:srgbClr val="3D4A5C"/>
                </a:solidFill>
                <a:latin typeface="IBM Plex Sans" pitchFamily="34" charset="0"/>
                <a:ea typeface="IBM Plex Sans" pitchFamily="34" charset="-122"/>
                <a:cs typeface="IBM Plex Sans" pitchFamily="34" charset="-120"/>
              </a:rPr>
              <a:t>Each pod states its owner and week-1 deliverable to the room · decision log opened (CodeQL spike owner, freeze calendar) · week-3 M0 exit review booked. Nobody leaves without knowing what their pod ships first.</a:t>
            </a:r>
            <a:endParaRPr lang="en-US" sz="116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533400"/>
            <a:ext cx="17602200" cy="257175"/>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5F6B7A"/>
                </a:solidFill>
                <a:latin typeface="IBM Plex Mono" pitchFamily="34" charset="0"/>
                <a:ea typeface="IBM Plex Mono" pitchFamily="34" charset="-122"/>
                <a:cs typeface="IBM Plex Mono" pitchFamily="34" charset="-120"/>
              </a:rPr>
              <a:t>NEW-TEAM ONBOARDING · LINEAGE COLLECTION PLATFORM · 120 MINUTES</a:t>
            </a:r>
            <a:endParaRPr lang="en-US" sz="1350" dirty="0"/>
          </a:p>
        </p:txBody>
      </p:sp>
      <p:sp>
        <p:nvSpPr>
          <p:cNvPr id="3" name="Text 1"/>
          <p:cNvSpPr/>
          <p:nvPr/>
        </p:nvSpPr>
        <p:spPr>
          <a:xfrm>
            <a:off x="1143000" y="790575"/>
            <a:ext cx="17602200" cy="581025"/>
          </a:xfrm>
          <a:prstGeom prst="rect">
            <a:avLst/>
          </a:prstGeom>
          <a:noFill/>
          <a:ln/>
        </p:spPr>
        <p:txBody>
          <a:bodyPr wrap="square" lIns="25400" tIns="25400" rIns="25400" bIns="25400" rtlCol="0" anchor="t">
            <a:normAutofit/>
          </a:bodyPr>
          <a:lstStyle/>
          <a:p>
            <a:pPr algn="l" indent="0" marL="0">
              <a:buNone/>
            </a:pPr>
            <a:r>
              <a:rPr lang="en-US" sz="3300" b="1" dirty="0">
                <a:solidFill>
                  <a:srgbClr val="232F3E"/>
                </a:solidFill>
                <a:latin typeface="IBM Plex Sans" pitchFamily="34" charset="0"/>
                <a:ea typeface="IBM Plex Sans" pitchFamily="34" charset="-122"/>
                <a:cs typeface="IBM Plex Sans" pitchFamily="34" charset="-120"/>
              </a:rPr>
              <a:t>Agenda</a:t>
            </a:r>
            <a:endParaRPr lang="en-US" sz="3300" dirty="0"/>
          </a:p>
        </p:txBody>
      </p:sp>
      <p:sp>
        <p:nvSpPr>
          <p:cNvPr id="4" name="Shape 2"/>
          <p:cNvSpPr/>
          <p:nvPr/>
        </p:nvSpPr>
        <p:spPr>
          <a:xfrm>
            <a:off x="1143000" y="1562100"/>
            <a:ext cx="16002000" cy="19050"/>
          </a:xfrm>
          <a:prstGeom prst="rect">
            <a:avLst/>
          </a:prstGeom>
          <a:solidFill>
            <a:srgbClr val="232F3E"/>
          </a:solidFill>
          <a:ln/>
        </p:spPr>
      </p:sp>
      <p:sp>
        <p:nvSpPr>
          <p:cNvPr id="5" name="Text 3"/>
          <p:cNvSpPr/>
          <p:nvPr/>
        </p:nvSpPr>
        <p:spPr>
          <a:xfrm>
            <a:off x="1143000" y="1978819"/>
            <a:ext cx="20955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232F3E"/>
                </a:solidFill>
                <a:latin typeface="IBM Plex Mono" pitchFamily="34" charset="0"/>
                <a:ea typeface="IBM Plex Mono" pitchFamily="34" charset="-122"/>
                <a:cs typeface="IBM Plex Mono" pitchFamily="34" charset="-120"/>
              </a:rPr>
              <a:t>0:00–0:10</a:t>
            </a:r>
            <a:endParaRPr lang="en-US" sz="1800" dirty="0"/>
          </a:p>
        </p:txBody>
      </p:sp>
      <p:sp>
        <p:nvSpPr>
          <p:cNvPr id="6" name="Text 4"/>
          <p:cNvSpPr/>
          <p:nvPr/>
        </p:nvSpPr>
        <p:spPr>
          <a:xfrm>
            <a:off x="3429000" y="1931194"/>
            <a:ext cx="3911709"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232F3E"/>
                </a:solidFill>
                <a:latin typeface="IBM Plex Sans" pitchFamily="34" charset="0"/>
                <a:ea typeface="IBM Plex Sans" pitchFamily="34" charset="-122"/>
                <a:cs typeface="IBM Plex Sans" pitchFamily="34" charset="-120"/>
              </a:rPr>
              <a:t>Welcome &amp; introductions</a:t>
            </a:r>
            <a:endParaRPr lang="en-US" sz="2400" dirty="0"/>
          </a:p>
        </p:txBody>
      </p:sp>
      <p:sp>
        <p:nvSpPr>
          <p:cNvPr id="7" name="Shape 5"/>
          <p:cNvSpPr/>
          <p:nvPr/>
        </p:nvSpPr>
        <p:spPr>
          <a:xfrm>
            <a:off x="1143000" y="2681288"/>
            <a:ext cx="16002000" cy="14288"/>
          </a:xfrm>
          <a:prstGeom prst="rect">
            <a:avLst/>
          </a:prstGeom>
          <a:solidFill>
            <a:srgbClr val="B9C2CC"/>
          </a:solidFill>
          <a:ln/>
        </p:spPr>
      </p:sp>
      <p:sp>
        <p:nvSpPr>
          <p:cNvPr id="8" name="Text 6"/>
          <p:cNvSpPr/>
          <p:nvPr/>
        </p:nvSpPr>
        <p:spPr>
          <a:xfrm>
            <a:off x="1143000" y="3093244"/>
            <a:ext cx="20955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232F3E"/>
                </a:solidFill>
                <a:latin typeface="IBM Plex Mono" pitchFamily="34" charset="0"/>
                <a:ea typeface="IBM Plex Mono" pitchFamily="34" charset="-122"/>
                <a:cs typeface="IBM Plex Mono" pitchFamily="34" charset="-120"/>
              </a:rPr>
              <a:t>0:10–0:25</a:t>
            </a:r>
            <a:endParaRPr lang="en-US" sz="1800" dirty="0"/>
          </a:p>
        </p:txBody>
      </p:sp>
      <p:sp>
        <p:nvSpPr>
          <p:cNvPr id="9" name="Text 7"/>
          <p:cNvSpPr/>
          <p:nvPr/>
        </p:nvSpPr>
        <p:spPr>
          <a:xfrm>
            <a:off x="3429000" y="3045619"/>
            <a:ext cx="2988052"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232F3E"/>
                </a:solidFill>
                <a:latin typeface="IBM Plex Sans" pitchFamily="34" charset="0"/>
                <a:ea typeface="IBM Plex Sans" pitchFamily="34" charset="-122"/>
                <a:cs typeface="IBM Plex Sans" pitchFamily="34" charset="-120"/>
              </a:rPr>
              <a:t>Problem statement</a:t>
            </a:r>
            <a:endParaRPr lang="en-US" sz="2400" dirty="0"/>
          </a:p>
        </p:txBody>
      </p:sp>
      <p:sp>
        <p:nvSpPr>
          <p:cNvPr id="10" name="Shape 8"/>
          <p:cNvSpPr/>
          <p:nvPr/>
        </p:nvSpPr>
        <p:spPr>
          <a:xfrm>
            <a:off x="1143000" y="3795713"/>
            <a:ext cx="16002000" cy="14288"/>
          </a:xfrm>
          <a:prstGeom prst="rect">
            <a:avLst/>
          </a:prstGeom>
          <a:solidFill>
            <a:srgbClr val="B9C2CC"/>
          </a:solidFill>
          <a:ln/>
        </p:spPr>
      </p:sp>
      <p:sp>
        <p:nvSpPr>
          <p:cNvPr id="11" name="Text 9"/>
          <p:cNvSpPr/>
          <p:nvPr/>
        </p:nvSpPr>
        <p:spPr>
          <a:xfrm>
            <a:off x="1143000" y="4207669"/>
            <a:ext cx="20955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232F3E"/>
                </a:solidFill>
                <a:latin typeface="IBM Plex Mono" pitchFamily="34" charset="0"/>
                <a:ea typeface="IBM Plex Mono" pitchFamily="34" charset="-122"/>
                <a:cs typeface="IBM Plex Mono" pitchFamily="34" charset="-120"/>
              </a:rPr>
              <a:t>0:25–0:40</a:t>
            </a:r>
            <a:endParaRPr lang="en-US" sz="1800" dirty="0"/>
          </a:p>
        </p:txBody>
      </p:sp>
      <p:sp>
        <p:nvSpPr>
          <p:cNvPr id="12" name="Text 10"/>
          <p:cNvSpPr/>
          <p:nvPr/>
        </p:nvSpPr>
        <p:spPr>
          <a:xfrm>
            <a:off x="3429000" y="4160044"/>
            <a:ext cx="2590726"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232F3E"/>
                </a:solidFill>
                <a:latin typeface="IBM Plex Sans" pitchFamily="34" charset="0"/>
                <a:ea typeface="IBM Plex Sans" pitchFamily="34" charset="-122"/>
                <a:cs typeface="IBM Plex Sans" pitchFamily="34" charset="-120"/>
              </a:rPr>
              <a:t>Operating model</a:t>
            </a:r>
            <a:endParaRPr lang="en-US" sz="2400" dirty="0"/>
          </a:p>
        </p:txBody>
      </p:sp>
      <p:sp>
        <p:nvSpPr>
          <p:cNvPr id="13" name="Shape 11"/>
          <p:cNvSpPr/>
          <p:nvPr/>
        </p:nvSpPr>
        <p:spPr>
          <a:xfrm>
            <a:off x="1143000" y="4910138"/>
            <a:ext cx="16002000" cy="14288"/>
          </a:xfrm>
          <a:prstGeom prst="rect">
            <a:avLst/>
          </a:prstGeom>
          <a:solidFill>
            <a:srgbClr val="B9C2CC"/>
          </a:solidFill>
          <a:ln/>
        </p:spPr>
      </p:sp>
      <p:sp>
        <p:nvSpPr>
          <p:cNvPr id="14" name="Text 12"/>
          <p:cNvSpPr/>
          <p:nvPr/>
        </p:nvSpPr>
        <p:spPr>
          <a:xfrm>
            <a:off x="1143000" y="5019675"/>
            <a:ext cx="2095500" cy="276225"/>
          </a:xfrm>
          <a:prstGeom prst="rect">
            <a:avLst/>
          </a:prstGeom>
          <a:noFill/>
          <a:ln/>
        </p:spPr>
        <p:txBody>
          <a:bodyPr wrap="square" lIns="25400" tIns="25400" rIns="25400" bIns="25400" rtlCol="0" anchor="t">
            <a:normAutofit/>
          </a:bodyPr>
          <a:lstStyle/>
          <a:p>
            <a:pPr algn="l" indent="0" marL="0">
              <a:buNone/>
            </a:pPr>
            <a:r>
              <a:rPr lang="en-US" sz="1500" b="1" dirty="0">
                <a:solidFill>
                  <a:srgbClr val="7D8998"/>
                </a:solidFill>
                <a:latin typeface="IBM Plex Mono" pitchFamily="34" charset="0"/>
                <a:ea typeface="IBM Plex Mono" pitchFamily="34" charset="-122"/>
                <a:cs typeface="IBM Plex Mono" pitchFamily="34" charset="-120"/>
              </a:rPr>
              <a:t>0:40–0:45</a:t>
            </a:r>
            <a:endParaRPr lang="en-US" sz="1500" dirty="0"/>
          </a:p>
        </p:txBody>
      </p:sp>
      <p:sp>
        <p:nvSpPr>
          <p:cNvPr id="15" name="Text 13"/>
          <p:cNvSpPr/>
          <p:nvPr/>
        </p:nvSpPr>
        <p:spPr>
          <a:xfrm>
            <a:off x="3429000" y="5029200"/>
            <a:ext cx="685800" cy="257175"/>
          </a:xfrm>
          <a:prstGeom prst="rect">
            <a:avLst/>
          </a:prstGeom>
          <a:noFill/>
          <a:ln/>
        </p:spPr>
        <p:txBody>
          <a:bodyPr wrap="square" lIns="25400" tIns="25400" rIns="25400" bIns="25400" rtlCol="0" anchor="t">
            <a:normAutofit/>
          </a:bodyPr>
          <a:lstStyle/>
          <a:p>
            <a:pPr algn="l" indent="0" marL="0">
              <a:buNone/>
            </a:pPr>
            <a:r>
              <a:rPr lang="en-US" sz="1350" spc="150" kern="0" dirty="0">
                <a:solidFill>
                  <a:srgbClr val="7D8998"/>
                </a:solidFill>
                <a:latin typeface="IBM Plex Mono" pitchFamily="34" charset="0"/>
                <a:ea typeface="IBM Plex Mono" pitchFamily="34" charset="-122"/>
                <a:cs typeface="IBM Plex Mono" pitchFamily="34" charset="-120"/>
              </a:rPr>
              <a:t>BREAK</a:t>
            </a:r>
            <a:endParaRPr lang="en-US" sz="1350" dirty="0"/>
          </a:p>
        </p:txBody>
      </p:sp>
      <p:sp>
        <p:nvSpPr>
          <p:cNvPr id="16" name="Shape 14"/>
          <p:cNvSpPr/>
          <p:nvPr/>
        </p:nvSpPr>
        <p:spPr>
          <a:xfrm>
            <a:off x="914400" y="5353050"/>
            <a:ext cx="16459200" cy="1114425"/>
          </a:xfrm>
          <a:prstGeom prst="roundRect">
            <a:avLst>
              <a:gd name="adj" fmla="val 6838"/>
            </a:avLst>
          </a:prstGeom>
          <a:solidFill>
            <a:srgbClr val="FDF0DC"/>
          </a:solidFill>
          <a:ln/>
        </p:spPr>
      </p:sp>
      <p:sp>
        <p:nvSpPr>
          <p:cNvPr id="17" name="Shape 15"/>
          <p:cNvSpPr/>
          <p:nvPr/>
        </p:nvSpPr>
        <p:spPr>
          <a:xfrm>
            <a:off x="914400" y="5353050"/>
            <a:ext cx="16459200" cy="14288"/>
          </a:xfrm>
          <a:prstGeom prst="rect">
            <a:avLst/>
          </a:prstGeom>
          <a:solidFill>
            <a:srgbClr val="B9C2CC"/>
          </a:solidFill>
          <a:ln/>
        </p:spPr>
      </p:sp>
      <p:sp>
        <p:nvSpPr>
          <p:cNvPr id="18" name="Text 16"/>
          <p:cNvSpPr/>
          <p:nvPr/>
        </p:nvSpPr>
        <p:spPr>
          <a:xfrm>
            <a:off x="1143000" y="5765006"/>
            <a:ext cx="20955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232F3E"/>
                </a:solidFill>
                <a:latin typeface="IBM Plex Mono" pitchFamily="34" charset="0"/>
                <a:ea typeface="IBM Plex Mono" pitchFamily="34" charset="-122"/>
                <a:cs typeface="IBM Plex Mono" pitchFamily="34" charset="-120"/>
              </a:rPr>
              <a:t>0:45–1:25</a:t>
            </a:r>
            <a:endParaRPr lang="en-US" sz="1800" dirty="0"/>
          </a:p>
        </p:txBody>
      </p:sp>
      <p:sp>
        <p:nvSpPr>
          <p:cNvPr id="19" name="Text 17"/>
          <p:cNvSpPr/>
          <p:nvPr/>
        </p:nvSpPr>
        <p:spPr>
          <a:xfrm>
            <a:off x="3429000" y="5717381"/>
            <a:ext cx="5497413"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232F3E"/>
                </a:solidFill>
                <a:latin typeface="IBM Plex Sans" pitchFamily="34" charset="0"/>
                <a:ea typeface="IBM Plex Sans" pitchFamily="34" charset="-122"/>
                <a:cs typeface="IBM Plex Sans" pitchFamily="34" charset="-120"/>
              </a:rPr>
              <a:t>Design discussion &amp; alignment </a:t>
            </a:r>
            <a:pPr algn="l" indent="0" marL="0">
              <a:buNone/>
            </a:pPr>
            <a:r>
              <a:rPr lang="en-US" sz="1350" b="1" dirty="0">
                <a:solidFill>
                  <a:srgbClr val="C8511B"/>
                </a:solidFill>
                <a:latin typeface="IBM Plex Mono" pitchFamily="34" charset="0"/>
                <a:ea typeface="IBM Plex Mono" pitchFamily="34" charset="-122"/>
                <a:cs typeface="IBM Plex Mono" pitchFamily="34" charset="-120"/>
              </a:rPr>
              <a:t>40 MIN</a:t>
            </a:r>
            <a:endParaRPr lang="en-US" sz="2400" dirty="0"/>
          </a:p>
        </p:txBody>
      </p:sp>
      <p:sp>
        <p:nvSpPr>
          <p:cNvPr id="20" name="Shape 18"/>
          <p:cNvSpPr/>
          <p:nvPr/>
        </p:nvSpPr>
        <p:spPr>
          <a:xfrm>
            <a:off x="1143000" y="6467475"/>
            <a:ext cx="16002000" cy="14288"/>
          </a:xfrm>
          <a:prstGeom prst="rect">
            <a:avLst/>
          </a:prstGeom>
          <a:solidFill>
            <a:srgbClr val="B9C2CC"/>
          </a:solidFill>
          <a:ln/>
        </p:spPr>
      </p:sp>
      <p:sp>
        <p:nvSpPr>
          <p:cNvPr id="21" name="Text 19"/>
          <p:cNvSpPr/>
          <p:nvPr/>
        </p:nvSpPr>
        <p:spPr>
          <a:xfrm>
            <a:off x="1143000" y="6879431"/>
            <a:ext cx="20955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232F3E"/>
                </a:solidFill>
                <a:latin typeface="IBM Plex Mono" pitchFamily="34" charset="0"/>
                <a:ea typeface="IBM Plex Mono" pitchFamily="34" charset="-122"/>
                <a:cs typeface="IBM Plex Mono" pitchFamily="34" charset="-120"/>
              </a:rPr>
              <a:t>1:25–1:40</a:t>
            </a:r>
            <a:endParaRPr lang="en-US" sz="1800" dirty="0"/>
          </a:p>
        </p:txBody>
      </p:sp>
      <p:sp>
        <p:nvSpPr>
          <p:cNvPr id="22" name="Text 20"/>
          <p:cNvSpPr/>
          <p:nvPr/>
        </p:nvSpPr>
        <p:spPr>
          <a:xfrm>
            <a:off x="3429000" y="6831806"/>
            <a:ext cx="4904943"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232F3E"/>
                </a:solidFill>
                <a:latin typeface="IBM Plex Sans" pitchFamily="34" charset="0"/>
                <a:ea typeface="IBM Plex Sans" pitchFamily="34" charset="-122"/>
                <a:cs typeface="IBM Plex Sans" pitchFamily="34" charset="-120"/>
              </a:rPr>
              <a:t>Work scope — the team decides</a:t>
            </a:r>
            <a:endParaRPr lang="en-US" sz="2400" dirty="0"/>
          </a:p>
        </p:txBody>
      </p:sp>
      <p:sp>
        <p:nvSpPr>
          <p:cNvPr id="23" name="Shape 21"/>
          <p:cNvSpPr/>
          <p:nvPr/>
        </p:nvSpPr>
        <p:spPr>
          <a:xfrm>
            <a:off x="1143000" y="7581900"/>
            <a:ext cx="16002000" cy="14288"/>
          </a:xfrm>
          <a:prstGeom prst="rect">
            <a:avLst/>
          </a:prstGeom>
          <a:solidFill>
            <a:srgbClr val="B9C2CC"/>
          </a:solidFill>
          <a:ln/>
        </p:spPr>
      </p:sp>
      <p:sp>
        <p:nvSpPr>
          <p:cNvPr id="24" name="Text 22"/>
          <p:cNvSpPr/>
          <p:nvPr/>
        </p:nvSpPr>
        <p:spPr>
          <a:xfrm>
            <a:off x="1143000" y="7993856"/>
            <a:ext cx="20955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232F3E"/>
                </a:solidFill>
                <a:latin typeface="IBM Plex Mono" pitchFamily="34" charset="0"/>
                <a:ea typeface="IBM Plex Mono" pitchFamily="34" charset="-122"/>
                <a:cs typeface="IBM Plex Mono" pitchFamily="34" charset="-120"/>
              </a:rPr>
              <a:t>1:40–1:55</a:t>
            </a:r>
            <a:endParaRPr lang="en-US" sz="1800" dirty="0"/>
          </a:p>
        </p:txBody>
      </p:sp>
      <p:sp>
        <p:nvSpPr>
          <p:cNvPr id="25" name="Text 23"/>
          <p:cNvSpPr/>
          <p:nvPr/>
        </p:nvSpPr>
        <p:spPr>
          <a:xfrm>
            <a:off x="3429000" y="7946231"/>
            <a:ext cx="2999839"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232F3E"/>
                </a:solidFill>
                <a:latin typeface="IBM Plex Sans" pitchFamily="34" charset="0"/>
                <a:ea typeface="IBM Plex Sans" pitchFamily="34" charset="-122"/>
                <a:cs typeface="IBM Plex Sans" pitchFamily="34" charset="-120"/>
              </a:rPr>
              <a:t>Pod breakouts </a:t>
            </a:r>
            <a:pPr algn="l" indent="0" marL="0">
              <a:buNone/>
            </a:pPr>
            <a:r>
              <a:rPr lang="en-US" sz="1350" b="1" dirty="0">
                <a:solidFill>
                  <a:srgbClr val="C8511B"/>
                </a:solidFill>
                <a:latin typeface="IBM Plex Mono" pitchFamily="34" charset="0"/>
                <a:ea typeface="IBM Plex Mono" pitchFamily="34" charset="-122"/>
                <a:cs typeface="IBM Plex Mono" pitchFamily="34" charset="-120"/>
              </a:rPr>
              <a:t>15 MIN</a:t>
            </a:r>
            <a:endParaRPr lang="en-US" sz="2400" dirty="0"/>
          </a:p>
        </p:txBody>
      </p:sp>
      <p:sp>
        <p:nvSpPr>
          <p:cNvPr id="26" name="Shape 24"/>
          <p:cNvSpPr/>
          <p:nvPr/>
        </p:nvSpPr>
        <p:spPr>
          <a:xfrm>
            <a:off x="1143000" y="9810750"/>
            <a:ext cx="16002000" cy="19050"/>
          </a:xfrm>
          <a:prstGeom prst="rect">
            <a:avLst/>
          </a:prstGeom>
          <a:solidFill>
            <a:srgbClr val="232F3E"/>
          </a:solidFill>
          <a:ln/>
        </p:spPr>
      </p:sp>
      <p:sp>
        <p:nvSpPr>
          <p:cNvPr id="27" name="Shape 25"/>
          <p:cNvSpPr/>
          <p:nvPr/>
        </p:nvSpPr>
        <p:spPr>
          <a:xfrm>
            <a:off x="1143000" y="8696325"/>
            <a:ext cx="16002000" cy="14288"/>
          </a:xfrm>
          <a:prstGeom prst="rect">
            <a:avLst/>
          </a:prstGeom>
          <a:solidFill>
            <a:srgbClr val="B9C2CC"/>
          </a:solidFill>
          <a:ln/>
        </p:spPr>
      </p:sp>
      <p:sp>
        <p:nvSpPr>
          <p:cNvPr id="28" name="Text 26"/>
          <p:cNvSpPr/>
          <p:nvPr/>
        </p:nvSpPr>
        <p:spPr>
          <a:xfrm>
            <a:off x="1143000" y="9108281"/>
            <a:ext cx="2095500" cy="342900"/>
          </a:xfrm>
          <a:prstGeom prst="rect">
            <a:avLst/>
          </a:prstGeom>
          <a:noFill/>
          <a:ln/>
        </p:spPr>
        <p:txBody>
          <a:bodyPr wrap="square" lIns="25400" tIns="25400" rIns="25400" bIns="25400" rtlCol="0" anchor="t">
            <a:normAutofit/>
          </a:bodyPr>
          <a:lstStyle/>
          <a:p>
            <a:pPr algn="l" indent="0" marL="0">
              <a:buNone/>
            </a:pPr>
            <a:r>
              <a:rPr lang="en-US" sz="1800" b="1" dirty="0">
                <a:solidFill>
                  <a:srgbClr val="232F3E"/>
                </a:solidFill>
                <a:latin typeface="IBM Plex Mono" pitchFamily="34" charset="0"/>
                <a:ea typeface="IBM Plex Mono" pitchFamily="34" charset="-122"/>
                <a:cs typeface="IBM Plex Mono" pitchFamily="34" charset="-120"/>
              </a:rPr>
              <a:t>1:55–2:00</a:t>
            </a:r>
            <a:endParaRPr lang="en-US" sz="1800" dirty="0"/>
          </a:p>
        </p:txBody>
      </p:sp>
      <p:sp>
        <p:nvSpPr>
          <p:cNvPr id="29" name="Text 27"/>
          <p:cNvSpPr/>
          <p:nvPr/>
        </p:nvSpPr>
        <p:spPr>
          <a:xfrm>
            <a:off x="3429000" y="9060656"/>
            <a:ext cx="3402404" cy="438150"/>
          </a:xfrm>
          <a:prstGeom prst="rect">
            <a:avLst/>
          </a:prstGeom>
          <a:noFill/>
          <a:ln/>
        </p:spPr>
        <p:txBody>
          <a:bodyPr wrap="square" lIns="25400" tIns="25400" rIns="25400" bIns="25400" rtlCol="0" anchor="t">
            <a:normAutofit/>
          </a:bodyPr>
          <a:lstStyle/>
          <a:p>
            <a:pPr algn="l" indent="0" marL="0">
              <a:buNone/>
            </a:pPr>
            <a:r>
              <a:rPr lang="en-US" sz="2400" b="1" dirty="0">
                <a:solidFill>
                  <a:srgbClr val="232F3E"/>
                </a:solidFill>
                <a:latin typeface="IBM Plex Sans" pitchFamily="34" charset="0"/>
                <a:ea typeface="IBM Plex Sans" pitchFamily="34" charset="-122"/>
                <a:cs typeface="IBM Plex Sans" pitchFamily="34" charset="-120"/>
              </a:rPr>
              <a:t>Commitments &amp; close</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1500" y="419100"/>
            <a:ext cx="18859500" cy="257175"/>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5F6B7A"/>
                </a:solidFill>
                <a:latin typeface="IBM Plex Mono" pitchFamily="34" charset="0"/>
                <a:ea typeface="IBM Plex Mono" pitchFamily="34" charset="-122"/>
                <a:cs typeface="IBM Plex Mono" pitchFamily="34" charset="-120"/>
              </a:rPr>
              <a:t>SCOPE BREAK-UP · PODS MEET ONLY AT CONTRACT FREEZES</a:t>
            </a:r>
            <a:endParaRPr lang="en-US" sz="1350" dirty="0"/>
          </a:p>
        </p:txBody>
      </p:sp>
      <p:sp>
        <p:nvSpPr>
          <p:cNvPr id="3" name="Text 1"/>
          <p:cNvSpPr/>
          <p:nvPr/>
        </p:nvSpPr>
        <p:spPr>
          <a:xfrm>
            <a:off x="571500" y="676275"/>
            <a:ext cx="18859500" cy="533400"/>
          </a:xfrm>
          <a:prstGeom prst="rect">
            <a:avLst/>
          </a:prstGeom>
          <a:noFill/>
          <a:ln/>
        </p:spPr>
        <p:txBody>
          <a:bodyPr wrap="square" lIns="25400" tIns="25400" rIns="25400" bIns="25400" rtlCol="0" anchor="t">
            <a:normAutofit/>
          </a:bodyPr>
          <a:lstStyle/>
          <a:p>
            <a:pPr algn="l" indent="0" marL="0">
              <a:buNone/>
            </a:pPr>
            <a:r>
              <a:rPr lang="en-US" sz="3000" b="1" dirty="0">
                <a:solidFill>
                  <a:srgbClr val="232F3E"/>
                </a:solidFill>
                <a:latin typeface="IBM Plex Sans" pitchFamily="34" charset="0"/>
                <a:ea typeface="IBM Plex Sans" pitchFamily="34" charset="-122"/>
                <a:cs typeface="IBM Plex Sans" pitchFamily="34" charset="-120"/>
              </a:rPr>
              <a:t>A strawman split — two teams · four pods · yours to change</a:t>
            </a:r>
            <a:endParaRPr lang="en-US" sz="3000" dirty="0"/>
          </a:p>
        </p:txBody>
      </p:sp>
      <p:sp>
        <p:nvSpPr>
          <p:cNvPr id="4" name="Shape 2"/>
          <p:cNvSpPr/>
          <p:nvPr/>
        </p:nvSpPr>
        <p:spPr>
          <a:xfrm>
            <a:off x="571500" y="1362075"/>
            <a:ext cx="8439150" cy="7553325"/>
          </a:xfrm>
          <a:prstGeom prst="roundRect">
            <a:avLst>
              <a:gd name="adj" fmla="val 1261"/>
            </a:avLst>
          </a:prstGeom>
          <a:ln w="19050">
            <a:solidFill>
              <a:srgbClr val="527FFF"/>
            </a:solidFill>
            <a:prstDash val="solid"/>
          </a:ln>
        </p:spPr>
      </p:sp>
      <p:sp>
        <p:nvSpPr>
          <p:cNvPr id="5" name="Text 3"/>
          <p:cNvSpPr/>
          <p:nvPr/>
        </p:nvSpPr>
        <p:spPr>
          <a:xfrm>
            <a:off x="781050" y="1533525"/>
            <a:ext cx="8822055"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527FFF"/>
                </a:solidFill>
                <a:latin typeface="IBM Plex Sans" pitchFamily="34" charset="0"/>
                <a:ea typeface="IBM Plex Sans" pitchFamily="34" charset="-122"/>
                <a:cs typeface="IBM Plex Sans" pitchFamily="34" charset="-120"/>
              </a:rPr>
              <a:t>Team A · Platform &amp; Flow </a:t>
            </a:r>
            <a:pPr algn="l" indent="0" marL="0">
              <a:buNone/>
            </a:pPr>
            <a:r>
              <a:rPr lang="en-US" sz="1125" dirty="0">
                <a:solidFill>
                  <a:srgbClr val="5F6B7A"/>
                </a:solidFill>
                <a:latin typeface="IBM Plex Sans" pitchFamily="34" charset="0"/>
                <a:ea typeface="IBM Plex Sans" pitchFamily="34" charset="-122"/>
                <a:cs typeface="IBM Plex Sans" pitchFamily="34" charset="-120"/>
              </a:rPr>
              <a:t>— everything before an engine runs</a:t>
            </a:r>
            <a:endParaRPr lang="en-US" sz="1650" dirty="0"/>
          </a:p>
        </p:txBody>
      </p:sp>
      <p:sp>
        <p:nvSpPr>
          <p:cNvPr id="6" name="Shape 4"/>
          <p:cNvSpPr/>
          <p:nvPr/>
        </p:nvSpPr>
        <p:spPr>
          <a:xfrm>
            <a:off x="781050" y="1943100"/>
            <a:ext cx="8020050" cy="3333750"/>
          </a:xfrm>
          <a:prstGeom prst="roundRect">
            <a:avLst>
              <a:gd name="adj" fmla="val 2286"/>
            </a:avLst>
          </a:prstGeom>
          <a:ln w="14288">
            <a:solidFill>
              <a:srgbClr val="B9C2CC"/>
            </a:solidFill>
            <a:prstDash val="solid"/>
          </a:ln>
        </p:spPr>
      </p:sp>
      <p:sp>
        <p:nvSpPr>
          <p:cNvPr id="7" name="Text 5"/>
          <p:cNvSpPr/>
          <p:nvPr/>
        </p:nvSpPr>
        <p:spPr>
          <a:xfrm>
            <a:off x="985838" y="2809875"/>
            <a:ext cx="8371522"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232F3E"/>
                </a:solidFill>
                <a:latin typeface="IBM Plex Sans" pitchFamily="34" charset="0"/>
                <a:ea typeface="IBM Plex Sans" pitchFamily="34" charset="-122"/>
                <a:cs typeface="IBM Plex Sans" pitchFamily="34" charset="-120"/>
              </a:rPr>
              <a:t>Pod A1 · Foundations &amp; Identity</a:t>
            </a:r>
            <a:endParaRPr lang="en-US" sz="1425" dirty="0"/>
          </a:p>
        </p:txBody>
      </p:sp>
      <p:sp>
        <p:nvSpPr>
          <p:cNvPr id="8" name="Text 6"/>
          <p:cNvSpPr/>
          <p:nvPr/>
        </p:nvSpPr>
        <p:spPr>
          <a:xfrm>
            <a:off x="985838" y="3114675"/>
            <a:ext cx="7838789" cy="533400"/>
          </a:xfrm>
          <a:prstGeom prst="rect">
            <a:avLst/>
          </a:prstGeom>
          <a:noFill/>
          <a:ln/>
        </p:spPr>
        <p:txBody>
          <a:bodyPr wrap="square" lIns="25400" tIns="25400" rIns="25400" bIns="25400" rtlCol="0" anchor="t">
            <a:normAutofit/>
          </a:bodyPr>
          <a:lstStyle/>
          <a:p>
            <a:pPr algn="l" indent="0" marL="0">
              <a:lnSpc>
                <a:spcPct val="120000"/>
              </a:lnSpc>
              <a:buNone/>
            </a:pPr>
            <a:r>
              <a:rPr lang="en-US" sz="1238" b="1" dirty="0">
                <a:solidFill>
                  <a:srgbClr val="232F3E"/>
                </a:solidFill>
                <a:latin typeface="IBM Plex Sans" pitchFamily="34" charset="0"/>
                <a:ea typeface="IBM Plex Sans" pitchFamily="34" charset="-122"/>
                <a:cs typeface="IBM Plex Sans" pitchFamily="34" charset="-120"/>
              </a:rPr>
              <a:t>Owns: </a:t>
            </a:r>
            <a:pPr algn="l" indent="0" marL="0">
              <a:lnSpc>
                <a:spcPct val="120000"/>
              </a:lnSpc>
              <a:buNone/>
            </a:pPr>
            <a:r>
              <a:rPr lang="en-US" sz="1238" dirty="0">
                <a:solidFill>
                  <a:srgbClr val="232F3E"/>
                </a:solidFill>
                <a:latin typeface="IBM Plex Sans" pitchFamily="34" charset="0"/>
                <a:ea typeface="IBM Plex Sans" pitchFamily="34" charset="-122"/>
                <a:cs typeface="IBM Plex Sans" pitchFamily="34" charset="-120"/>
              </a:rPr>
              <a:t>contracts lib (freezes F1/F2), L01 resolver + golden corpus, L08 store client, CDK pipeline + accounts, L12 security baseline.</a:t>
            </a:r>
            <a:endParaRPr lang="en-US" sz="1238" dirty="0"/>
          </a:p>
        </p:txBody>
      </p:sp>
      <p:sp>
        <p:nvSpPr>
          <p:cNvPr id="9" name="Text 7"/>
          <p:cNvSpPr/>
          <p:nvPr/>
        </p:nvSpPr>
        <p:spPr>
          <a:xfrm>
            <a:off x="985838" y="3667125"/>
            <a:ext cx="7838789" cy="533400"/>
          </a:xfrm>
          <a:prstGeom prst="rect">
            <a:avLst/>
          </a:prstGeom>
          <a:noFill/>
          <a:ln/>
        </p:spPr>
        <p:txBody>
          <a:bodyPr wrap="square" lIns="25400" tIns="25400" rIns="25400" bIns="25400" rtlCol="0" anchor="t">
            <a:normAutofit/>
          </a:bodyPr>
          <a:lstStyle/>
          <a:p>
            <a:pPr algn="l" indent="0" marL="0">
              <a:lnSpc>
                <a:spcPct val="120000"/>
              </a:lnSpc>
              <a:buNone/>
            </a:pPr>
            <a:r>
              <a:rPr lang="en-US" sz="1238" b="1" dirty="0">
                <a:solidFill>
                  <a:srgbClr val="232F3E"/>
                </a:solidFill>
                <a:latin typeface="IBM Plex Sans" pitchFamily="34" charset="0"/>
                <a:ea typeface="IBM Plex Sans" pitchFamily="34" charset="-122"/>
                <a:cs typeface="IBM Plex Sans" pitchFamily="34" charset="-120"/>
              </a:rPr>
              <a:t>Ships first (wk 3): </a:t>
            </a:r>
            <a:pPr algn="l" indent="0" marL="0">
              <a:lnSpc>
                <a:spcPct val="120000"/>
              </a:lnSpc>
              <a:buNone/>
            </a:pPr>
            <a:r>
              <a:rPr lang="en-US" sz="1238" dirty="0">
                <a:solidFill>
                  <a:srgbClr val="232F3E"/>
                </a:solidFill>
                <a:latin typeface="IBM Plex Sans" pitchFamily="34" charset="0"/>
                <a:ea typeface="IBM Plex Sans" pitchFamily="34" charset="-122"/>
                <a:cs typeface="IBM Plex Sans" pitchFamily="34" charset="-120"/>
              </a:rPr>
              <a:t>pipeline live; EvidenceRef / EventEnvelope / resolve() frozen; store + resolver libs another pod actually uses.</a:t>
            </a:r>
            <a:endParaRPr lang="en-US" sz="1238" dirty="0"/>
          </a:p>
        </p:txBody>
      </p:sp>
      <p:sp>
        <p:nvSpPr>
          <p:cNvPr id="10" name="Text 8"/>
          <p:cNvSpPr/>
          <p:nvPr/>
        </p:nvSpPr>
        <p:spPr>
          <a:xfrm>
            <a:off x="985838" y="4238625"/>
            <a:ext cx="8371522" cy="209550"/>
          </a:xfrm>
          <a:prstGeom prst="rect">
            <a:avLst/>
          </a:prstGeom>
          <a:noFill/>
          <a:ln/>
        </p:spPr>
        <p:txBody>
          <a:bodyPr wrap="square" lIns="25400" tIns="25400" rIns="25400" bIns="25400" rtlCol="0" anchor="t">
            <a:normAutofit/>
          </a:bodyPr>
          <a:lstStyle/>
          <a:p>
            <a:pPr algn="l" indent="0" marL="0">
              <a:buNone/>
            </a:pPr>
            <a:r>
              <a:rPr lang="en-US" sz="1013" dirty="0">
                <a:solidFill>
                  <a:srgbClr val="5F6B7A"/>
                </a:solidFill>
                <a:latin typeface="IBM Plex Mono" pitchFamily="34" charset="0"/>
                <a:ea typeface="IBM Plex Mono" pitchFamily="34" charset="-122"/>
                <a:cs typeface="IBM Plex Mono" pitchFamily="34" charset="-120"/>
              </a:rPr>
              <a:t>provides → everyone · consumes → nothing</a:t>
            </a:r>
            <a:endParaRPr lang="en-US" sz="1013" dirty="0"/>
          </a:p>
        </p:txBody>
      </p:sp>
      <p:sp>
        <p:nvSpPr>
          <p:cNvPr id="11" name="Shape 9"/>
          <p:cNvSpPr/>
          <p:nvPr/>
        </p:nvSpPr>
        <p:spPr>
          <a:xfrm>
            <a:off x="781050" y="5410200"/>
            <a:ext cx="8020050" cy="3333750"/>
          </a:xfrm>
          <a:prstGeom prst="roundRect">
            <a:avLst>
              <a:gd name="adj" fmla="val 2286"/>
            </a:avLst>
          </a:prstGeom>
          <a:ln w="14288">
            <a:solidFill>
              <a:srgbClr val="B9C2CC"/>
            </a:solidFill>
            <a:prstDash val="solid"/>
          </a:ln>
        </p:spPr>
      </p:sp>
      <p:sp>
        <p:nvSpPr>
          <p:cNvPr id="12" name="Text 10"/>
          <p:cNvSpPr/>
          <p:nvPr/>
        </p:nvSpPr>
        <p:spPr>
          <a:xfrm>
            <a:off x="985838" y="6276975"/>
            <a:ext cx="8371522"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232F3E"/>
                </a:solidFill>
                <a:latin typeface="IBM Plex Sans" pitchFamily="34" charset="0"/>
                <a:ea typeface="IBM Plex Sans" pitchFamily="34" charset="-122"/>
                <a:cs typeface="IBM Plex Sans" pitchFamily="34" charset="-120"/>
              </a:rPr>
              <a:t>Pod A2 · Intake &amp; Orchestration</a:t>
            </a:r>
            <a:endParaRPr lang="en-US" sz="1425" dirty="0"/>
          </a:p>
        </p:txBody>
      </p:sp>
      <p:sp>
        <p:nvSpPr>
          <p:cNvPr id="13" name="Text 11"/>
          <p:cNvSpPr/>
          <p:nvPr/>
        </p:nvSpPr>
        <p:spPr>
          <a:xfrm>
            <a:off x="985838" y="6581775"/>
            <a:ext cx="7838789" cy="533400"/>
          </a:xfrm>
          <a:prstGeom prst="rect">
            <a:avLst/>
          </a:prstGeom>
          <a:noFill/>
          <a:ln/>
        </p:spPr>
        <p:txBody>
          <a:bodyPr wrap="square" lIns="25400" tIns="25400" rIns="25400" bIns="25400" rtlCol="0" anchor="t">
            <a:normAutofit/>
          </a:bodyPr>
          <a:lstStyle/>
          <a:p>
            <a:pPr algn="l" indent="0" marL="0">
              <a:lnSpc>
                <a:spcPct val="120000"/>
              </a:lnSpc>
              <a:buNone/>
            </a:pPr>
            <a:r>
              <a:rPr lang="en-US" sz="1238" b="1" dirty="0">
                <a:solidFill>
                  <a:srgbClr val="232F3E"/>
                </a:solidFill>
                <a:latin typeface="IBM Plex Sans" pitchFamily="34" charset="0"/>
                <a:ea typeface="IBM Plex Sans" pitchFamily="34" charset="-122"/>
                <a:cs typeface="IBM Plex Sans" pitchFamily="34" charset="-120"/>
              </a:rPr>
              <a:t>Owns: </a:t>
            </a:r>
            <a:pPr algn="l" indent="0" marL="0">
              <a:lnSpc>
                <a:spcPct val="120000"/>
              </a:lnSpc>
              <a:buNone/>
            </a:pPr>
            <a:r>
              <a:rPr lang="en-US" sz="1238" dirty="0">
                <a:solidFill>
                  <a:srgbClr val="232F3E"/>
                </a:solidFill>
                <a:latin typeface="IBM Plex Sans" pitchFamily="34" charset="0"/>
                <a:ea typeface="IBM Plex Sans" pitchFamily="34" charset="-122"/>
                <a:cs typeface="IBM Plex Sans" pitchFamily="34" charset="-120"/>
              </a:rPr>
              <a:t>L02 intake (webhooks, HMAC, dedupe, EventBridge + archive, 3 lanes + DLQs), L03 workflows + run ledger + determinants, L13 classification, promotion λ.</a:t>
            </a:r>
            <a:endParaRPr lang="en-US" sz="1238" dirty="0"/>
          </a:p>
        </p:txBody>
      </p:sp>
      <p:sp>
        <p:nvSpPr>
          <p:cNvPr id="14" name="Text 12"/>
          <p:cNvSpPr/>
          <p:nvPr/>
        </p:nvSpPr>
        <p:spPr>
          <a:xfrm>
            <a:off x="985838" y="7134225"/>
            <a:ext cx="7838789" cy="533400"/>
          </a:xfrm>
          <a:prstGeom prst="rect">
            <a:avLst/>
          </a:prstGeom>
          <a:noFill/>
          <a:ln/>
        </p:spPr>
        <p:txBody>
          <a:bodyPr wrap="square" lIns="25400" tIns="25400" rIns="25400" bIns="25400" rtlCol="0" anchor="t">
            <a:normAutofit/>
          </a:bodyPr>
          <a:lstStyle/>
          <a:p>
            <a:pPr algn="l" indent="0" marL="0">
              <a:lnSpc>
                <a:spcPct val="120000"/>
              </a:lnSpc>
              <a:buNone/>
            </a:pPr>
            <a:r>
              <a:rPr lang="en-US" sz="1238" b="1" dirty="0">
                <a:solidFill>
                  <a:srgbClr val="232F3E"/>
                </a:solidFill>
                <a:latin typeface="IBM Plex Sans" pitchFamily="34" charset="0"/>
                <a:ea typeface="IBM Plex Sans" pitchFamily="34" charset="-122"/>
                <a:cs typeface="IBM Plex Sans" pitchFamily="34" charset="-120"/>
              </a:rPr>
              <a:t>Ships first (wk 5): </a:t>
            </a:r>
            <a:pPr algn="l" indent="0" marL="0">
              <a:lnSpc>
                <a:spcPct val="120000"/>
              </a:lnSpc>
              <a:buNone/>
            </a:pPr>
            <a:r>
              <a:rPr lang="en-US" sz="1238" dirty="0">
                <a:solidFill>
                  <a:srgbClr val="232F3E"/>
                </a:solidFill>
                <a:latin typeface="IBM Plex Sans" pitchFamily="34" charset="0"/>
                <a:ea typeface="IBM Plex Sans" pitchFamily="34" charset="-122"/>
                <a:cs typeface="IBM Plex Sans" pitchFamily="34" charset="-120"/>
              </a:rPr>
              <a:t>a signed push becomes exactly one Incremental run with a visible stage ledger — engines stubbed.</a:t>
            </a:r>
            <a:endParaRPr lang="en-US" sz="1238" dirty="0"/>
          </a:p>
        </p:txBody>
      </p:sp>
      <p:sp>
        <p:nvSpPr>
          <p:cNvPr id="15" name="Text 13"/>
          <p:cNvSpPr/>
          <p:nvPr/>
        </p:nvSpPr>
        <p:spPr>
          <a:xfrm>
            <a:off x="985838" y="7705725"/>
            <a:ext cx="8371522" cy="209550"/>
          </a:xfrm>
          <a:prstGeom prst="rect">
            <a:avLst/>
          </a:prstGeom>
          <a:noFill/>
          <a:ln/>
        </p:spPr>
        <p:txBody>
          <a:bodyPr wrap="square" lIns="25400" tIns="25400" rIns="25400" bIns="25400" rtlCol="0" anchor="t">
            <a:normAutofit/>
          </a:bodyPr>
          <a:lstStyle/>
          <a:p>
            <a:pPr algn="l" indent="0" marL="0">
              <a:buNone/>
            </a:pPr>
            <a:r>
              <a:rPr lang="en-US" sz="1013" dirty="0">
                <a:solidFill>
                  <a:srgbClr val="5F6B7A"/>
                </a:solidFill>
                <a:latin typeface="IBM Plex Mono" pitchFamily="34" charset="0"/>
                <a:ea typeface="IBM Plex Mono" pitchFamily="34" charset="-122"/>
                <a:cs typeface="IBM Plex Mono" pitchFamily="34" charset="-120"/>
              </a:rPr>
              <a:t>provides → task specs, run ledger · consumes → F1/F2</a:t>
            </a:r>
            <a:endParaRPr lang="en-US" sz="1013" dirty="0"/>
          </a:p>
        </p:txBody>
      </p:sp>
      <p:sp>
        <p:nvSpPr>
          <p:cNvPr id="16" name="Shape 14"/>
          <p:cNvSpPr/>
          <p:nvPr/>
        </p:nvSpPr>
        <p:spPr>
          <a:xfrm>
            <a:off x="9277350" y="1362075"/>
            <a:ext cx="8439150" cy="7553325"/>
          </a:xfrm>
          <a:prstGeom prst="roundRect">
            <a:avLst>
              <a:gd name="adj" fmla="val 1261"/>
            </a:avLst>
          </a:prstGeom>
          <a:ln w="19050">
            <a:solidFill>
              <a:srgbClr val="7AA116"/>
            </a:solidFill>
            <a:prstDash val="solid"/>
          </a:ln>
        </p:spPr>
      </p:sp>
      <p:sp>
        <p:nvSpPr>
          <p:cNvPr id="17" name="Text 15"/>
          <p:cNvSpPr/>
          <p:nvPr/>
        </p:nvSpPr>
        <p:spPr>
          <a:xfrm>
            <a:off x="9486900" y="1533525"/>
            <a:ext cx="8822055"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7AA116"/>
                </a:solidFill>
                <a:latin typeface="IBM Plex Sans" pitchFamily="34" charset="0"/>
                <a:ea typeface="IBM Plex Sans" pitchFamily="34" charset="-122"/>
                <a:cs typeface="IBM Plex Sans" pitchFamily="34" charset="-120"/>
              </a:rPr>
              <a:t>Team B · Engines &amp; Trust </a:t>
            </a:r>
            <a:pPr algn="l" indent="0" marL="0">
              <a:buNone/>
            </a:pPr>
            <a:r>
              <a:rPr lang="en-US" sz="1125" dirty="0">
                <a:solidFill>
                  <a:srgbClr val="5F6B7A"/>
                </a:solidFill>
                <a:latin typeface="IBM Plex Sans" pitchFamily="34" charset="0"/>
                <a:ea typeface="IBM Plex Sans" pitchFamily="34" charset="-122"/>
                <a:cs typeface="IBM Plex Sans" pitchFamily="34" charset="-120"/>
              </a:rPr>
              <a:t>— from a run to a published edge</a:t>
            </a:r>
            <a:endParaRPr lang="en-US" sz="1650" dirty="0"/>
          </a:p>
        </p:txBody>
      </p:sp>
      <p:sp>
        <p:nvSpPr>
          <p:cNvPr id="18" name="Shape 16"/>
          <p:cNvSpPr/>
          <p:nvPr/>
        </p:nvSpPr>
        <p:spPr>
          <a:xfrm>
            <a:off x="9486900" y="1943100"/>
            <a:ext cx="8020050" cy="3333750"/>
          </a:xfrm>
          <a:prstGeom prst="roundRect">
            <a:avLst>
              <a:gd name="adj" fmla="val 2286"/>
            </a:avLst>
          </a:prstGeom>
          <a:ln w="14288">
            <a:solidFill>
              <a:srgbClr val="B9C2CC"/>
            </a:solidFill>
            <a:prstDash val="solid"/>
          </a:ln>
        </p:spPr>
      </p:sp>
      <p:sp>
        <p:nvSpPr>
          <p:cNvPr id="19" name="Text 17"/>
          <p:cNvSpPr/>
          <p:nvPr/>
        </p:nvSpPr>
        <p:spPr>
          <a:xfrm>
            <a:off x="9691688" y="2933700"/>
            <a:ext cx="8371522"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232F3E"/>
                </a:solidFill>
                <a:latin typeface="IBM Plex Sans" pitchFamily="34" charset="0"/>
                <a:ea typeface="IBM Plex Sans" pitchFamily="34" charset="-122"/>
                <a:cs typeface="IBM Plex Sans" pitchFamily="34" charset="-120"/>
              </a:rPr>
              <a:t>Pod B1 · Analysis Engines</a:t>
            </a:r>
            <a:endParaRPr lang="en-US" sz="1425" dirty="0"/>
          </a:p>
        </p:txBody>
      </p:sp>
      <p:sp>
        <p:nvSpPr>
          <p:cNvPr id="20" name="Text 18"/>
          <p:cNvSpPr/>
          <p:nvPr/>
        </p:nvSpPr>
        <p:spPr>
          <a:xfrm>
            <a:off x="9691688" y="3238500"/>
            <a:ext cx="7838789" cy="533400"/>
          </a:xfrm>
          <a:prstGeom prst="rect">
            <a:avLst/>
          </a:prstGeom>
          <a:noFill/>
          <a:ln/>
        </p:spPr>
        <p:txBody>
          <a:bodyPr wrap="square" lIns="25400" tIns="25400" rIns="25400" bIns="25400" rtlCol="0" anchor="t">
            <a:normAutofit/>
          </a:bodyPr>
          <a:lstStyle/>
          <a:p>
            <a:pPr algn="l" indent="0" marL="0">
              <a:lnSpc>
                <a:spcPct val="120000"/>
              </a:lnSpc>
              <a:buNone/>
            </a:pPr>
            <a:r>
              <a:rPr lang="en-US" sz="1238" b="1" dirty="0">
                <a:solidFill>
                  <a:srgbClr val="232F3E"/>
                </a:solidFill>
                <a:latin typeface="IBM Plex Sans" pitchFamily="34" charset="0"/>
                <a:ea typeface="IBM Plex Sans" pitchFamily="34" charset="-122"/>
                <a:cs typeface="IBM Plex Sans" pitchFamily="34" charset="-120"/>
              </a:rPr>
              <a:t>Owns: </a:t>
            </a:r>
            <a:pPr algn="l" indent="0" marL="0">
              <a:lnSpc>
                <a:spcPct val="120000"/>
              </a:lnSpc>
              <a:buNone/>
            </a:pPr>
            <a:r>
              <a:rPr lang="en-US" sz="1238" dirty="0">
                <a:solidFill>
                  <a:srgbClr val="232F3E"/>
                </a:solidFill>
                <a:latin typeface="IBM Plex Sans" pitchFamily="34" charset="0"/>
                <a:ea typeface="IBM Plex Sans" pitchFamily="34" charset="-122"/>
                <a:cs typeface="IBM Plex Sans" pitchFamily="34" charset="-120"/>
              </a:rPr>
              <a:t>L04 SCA (Python pack + sqlglot first, then Java/Kotlin · JS/TS · Go), residue contract (F3), CodeQL spike, L06 OTel slice; L05 LLM lands post-launch against frozen F3.</a:t>
            </a:r>
            <a:endParaRPr lang="en-US" sz="1238" dirty="0"/>
          </a:p>
        </p:txBody>
      </p:sp>
      <p:sp>
        <p:nvSpPr>
          <p:cNvPr id="21" name="Text 19"/>
          <p:cNvSpPr/>
          <p:nvPr/>
        </p:nvSpPr>
        <p:spPr>
          <a:xfrm>
            <a:off x="9691688" y="3790950"/>
            <a:ext cx="8371522" cy="285750"/>
          </a:xfrm>
          <a:prstGeom prst="rect">
            <a:avLst/>
          </a:prstGeom>
          <a:noFill/>
          <a:ln/>
        </p:spPr>
        <p:txBody>
          <a:bodyPr wrap="square" lIns="25400" tIns="25400" rIns="25400" bIns="25400" rtlCol="0" anchor="t">
            <a:normAutofit/>
          </a:bodyPr>
          <a:lstStyle/>
          <a:p>
            <a:pPr algn="l" indent="0" marL="0">
              <a:lnSpc>
                <a:spcPct val="120000"/>
              </a:lnSpc>
              <a:buNone/>
            </a:pPr>
            <a:r>
              <a:rPr lang="en-US" sz="1238" b="1" dirty="0">
                <a:solidFill>
                  <a:srgbClr val="232F3E"/>
                </a:solidFill>
                <a:latin typeface="IBM Plex Sans" pitchFamily="34" charset="0"/>
                <a:ea typeface="IBM Plex Sans" pitchFamily="34" charset="-122"/>
                <a:cs typeface="IBM Plex Sans" pitchFamily="34" charset="-120"/>
              </a:rPr>
              <a:t>Ships first (wk 5): </a:t>
            </a:r>
            <a:pPr algn="l" indent="0" marL="0">
              <a:lnSpc>
                <a:spcPct val="120000"/>
              </a:lnSpc>
              <a:buNone/>
            </a:pPr>
            <a:r>
              <a:rPr lang="en-US" sz="1238" dirty="0">
                <a:solidFill>
                  <a:srgbClr val="232F3E"/>
                </a:solidFill>
                <a:latin typeface="IBM Plex Sans" pitchFamily="34" charset="0"/>
                <a:ea typeface="IBM Plex Sans" pitchFamily="34" charset="-122"/>
                <a:cs typeface="IBM Plex Sans" pitchFamily="34" charset="-120"/>
              </a:rPr>
              <a:t>real ScaEvidenceFile from the seeded payments-pipeline repo, byte-identical on replay.</a:t>
            </a:r>
            <a:endParaRPr lang="en-US" sz="1238" dirty="0"/>
          </a:p>
        </p:txBody>
      </p:sp>
      <p:sp>
        <p:nvSpPr>
          <p:cNvPr id="22" name="Text 20"/>
          <p:cNvSpPr/>
          <p:nvPr/>
        </p:nvSpPr>
        <p:spPr>
          <a:xfrm>
            <a:off x="9691688" y="4114800"/>
            <a:ext cx="8371522" cy="209550"/>
          </a:xfrm>
          <a:prstGeom prst="rect">
            <a:avLst/>
          </a:prstGeom>
          <a:noFill/>
          <a:ln/>
        </p:spPr>
        <p:txBody>
          <a:bodyPr wrap="square" lIns="25400" tIns="25400" rIns="25400" bIns="25400" rtlCol="0" anchor="t">
            <a:normAutofit/>
          </a:bodyPr>
          <a:lstStyle/>
          <a:p>
            <a:pPr algn="l" indent="0" marL="0">
              <a:buNone/>
            </a:pPr>
            <a:r>
              <a:rPr lang="en-US" sz="1013" dirty="0">
                <a:solidFill>
                  <a:srgbClr val="5F6B7A"/>
                </a:solidFill>
                <a:latin typeface="IBM Plex Mono" pitchFamily="34" charset="0"/>
                <a:ea typeface="IBM Plex Mono" pitchFamily="34" charset="-122"/>
                <a:cs typeface="IBM Plex Mono" pitchFamily="34" charset="-120"/>
              </a:rPr>
              <a:t>provides → evidence files (F3/F7) · consumes → resolve(), store client, task specs</a:t>
            </a:r>
            <a:endParaRPr lang="en-US" sz="1013" dirty="0"/>
          </a:p>
        </p:txBody>
      </p:sp>
      <p:sp>
        <p:nvSpPr>
          <p:cNvPr id="23" name="Shape 21"/>
          <p:cNvSpPr/>
          <p:nvPr/>
        </p:nvSpPr>
        <p:spPr>
          <a:xfrm>
            <a:off x="9486900" y="5410200"/>
            <a:ext cx="8020050" cy="3333750"/>
          </a:xfrm>
          <a:prstGeom prst="roundRect">
            <a:avLst>
              <a:gd name="adj" fmla="val 2286"/>
            </a:avLst>
          </a:prstGeom>
          <a:ln w="14288">
            <a:solidFill>
              <a:srgbClr val="B9C2CC"/>
            </a:solidFill>
            <a:prstDash val="solid"/>
          </a:ln>
        </p:spPr>
      </p:sp>
      <p:sp>
        <p:nvSpPr>
          <p:cNvPr id="24" name="Text 22"/>
          <p:cNvSpPr/>
          <p:nvPr/>
        </p:nvSpPr>
        <p:spPr>
          <a:xfrm>
            <a:off x="9691688" y="6276975"/>
            <a:ext cx="8371522" cy="266700"/>
          </a:xfrm>
          <a:prstGeom prst="rect">
            <a:avLst/>
          </a:prstGeom>
          <a:noFill/>
          <a:ln/>
        </p:spPr>
        <p:txBody>
          <a:bodyPr wrap="square" lIns="25400" tIns="25400" rIns="25400" bIns="25400" rtlCol="0" anchor="t">
            <a:normAutofit/>
          </a:bodyPr>
          <a:lstStyle/>
          <a:p>
            <a:pPr algn="l" indent="0" marL="0">
              <a:buNone/>
            </a:pPr>
            <a:r>
              <a:rPr lang="en-US" sz="1425" b="1" dirty="0">
                <a:solidFill>
                  <a:srgbClr val="232F3E"/>
                </a:solidFill>
                <a:latin typeface="IBM Plex Sans" pitchFamily="34" charset="0"/>
                <a:ea typeface="IBM Plex Sans" pitchFamily="34" charset="-122"/>
                <a:cs typeface="IBM Plex Sans" pitchFamily="34" charset="-120"/>
              </a:rPr>
              <a:t>Pod B2 · Trust Chain</a:t>
            </a:r>
            <a:endParaRPr lang="en-US" sz="1425" dirty="0"/>
          </a:p>
        </p:txBody>
      </p:sp>
      <p:sp>
        <p:nvSpPr>
          <p:cNvPr id="25" name="Text 23"/>
          <p:cNvSpPr/>
          <p:nvPr/>
        </p:nvSpPr>
        <p:spPr>
          <a:xfrm>
            <a:off x="9691688" y="6581775"/>
            <a:ext cx="7838789" cy="533400"/>
          </a:xfrm>
          <a:prstGeom prst="rect">
            <a:avLst/>
          </a:prstGeom>
          <a:noFill/>
          <a:ln/>
        </p:spPr>
        <p:txBody>
          <a:bodyPr wrap="square" lIns="25400" tIns="25400" rIns="25400" bIns="25400" rtlCol="0" anchor="t">
            <a:normAutofit/>
          </a:bodyPr>
          <a:lstStyle/>
          <a:p>
            <a:pPr algn="l" indent="0" marL="0">
              <a:lnSpc>
                <a:spcPct val="120000"/>
              </a:lnSpc>
              <a:buNone/>
            </a:pPr>
            <a:r>
              <a:rPr lang="en-US" sz="1238" b="1" dirty="0">
                <a:solidFill>
                  <a:srgbClr val="232F3E"/>
                </a:solidFill>
                <a:latin typeface="IBM Plex Sans" pitchFamily="34" charset="0"/>
                <a:ea typeface="IBM Plex Sans" pitchFamily="34" charset="-122"/>
                <a:cs typeface="IBM Plex Sans" pitchFamily="34" charset="-120"/>
              </a:rPr>
              <a:t>Owns: </a:t>
            </a:r>
            <a:pPr algn="l" indent="0" marL="0">
              <a:lnSpc>
                <a:spcPct val="120000"/>
              </a:lnSpc>
              <a:buNone/>
            </a:pPr>
            <a:r>
              <a:rPr lang="en-US" sz="1238" dirty="0">
                <a:solidFill>
                  <a:srgbClr val="232F3E"/>
                </a:solidFill>
                <a:latin typeface="IBM Plex Sans" pitchFamily="34" charset="0"/>
                <a:ea typeface="IBM Plex Sans" pitchFamily="34" charset="-122"/>
                <a:cs typeface="IBM Plex Sans" pitchFamily="34" charset="-120"/>
              </a:rPr>
              <a:t>L07 merge + confidence bands (F4), L09 proposals + review + auto-publish policy (F5), L10 fenced publication + Neptune namespaces (F6), L11 query API + review SPA.</a:t>
            </a:r>
            <a:endParaRPr lang="en-US" sz="1238" dirty="0"/>
          </a:p>
        </p:txBody>
      </p:sp>
      <p:sp>
        <p:nvSpPr>
          <p:cNvPr id="26" name="Text 24"/>
          <p:cNvSpPr/>
          <p:nvPr/>
        </p:nvSpPr>
        <p:spPr>
          <a:xfrm>
            <a:off x="9691688" y="7134225"/>
            <a:ext cx="7838789" cy="533400"/>
          </a:xfrm>
          <a:prstGeom prst="rect">
            <a:avLst/>
          </a:prstGeom>
          <a:noFill/>
          <a:ln/>
        </p:spPr>
        <p:txBody>
          <a:bodyPr wrap="square" lIns="25400" tIns="25400" rIns="25400" bIns="25400" rtlCol="0" anchor="t">
            <a:normAutofit/>
          </a:bodyPr>
          <a:lstStyle/>
          <a:p>
            <a:pPr algn="l" indent="0" marL="0">
              <a:lnSpc>
                <a:spcPct val="120000"/>
              </a:lnSpc>
              <a:buNone/>
            </a:pPr>
            <a:r>
              <a:rPr lang="en-US" sz="1238" b="1" dirty="0">
                <a:solidFill>
                  <a:srgbClr val="232F3E"/>
                </a:solidFill>
                <a:latin typeface="IBM Plex Sans" pitchFamily="34" charset="0"/>
                <a:ea typeface="IBM Plex Sans" pitchFamily="34" charset="-122"/>
                <a:cs typeface="IBM Plex Sans" pitchFamily="34" charset="-120"/>
              </a:rPr>
              <a:t>Ships first (wk 6): </a:t>
            </a:r>
            <a:pPr algn="l" indent="0" marL="0">
              <a:lnSpc>
                <a:spcPct val="120000"/>
              </a:lnSpc>
              <a:buNone/>
            </a:pPr>
            <a:r>
              <a:rPr lang="en-US" sz="1238" dirty="0">
                <a:solidFill>
                  <a:srgbClr val="232F3E"/>
                </a:solidFill>
                <a:latin typeface="IBM Plex Sans" pitchFamily="34" charset="0"/>
                <a:ea typeface="IBM Plex Sans" pitchFamily="34" charset="-122"/>
                <a:cs typeface="IBM Plex Sans" pitchFamily="34" charset="-120"/>
              </a:rPr>
              <a:t>fixture evidence merges to banded edges → manual approval → fenced publish → one-hop query.</a:t>
            </a:r>
            <a:endParaRPr lang="en-US" sz="1238" dirty="0"/>
          </a:p>
        </p:txBody>
      </p:sp>
      <p:sp>
        <p:nvSpPr>
          <p:cNvPr id="27" name="Text 25"/>
          <p:cNvSpPr/>
          <p:nvPr/>
        </p:nvSpPr>
        <p:spPr>
          <a:xfrm>
            <a:off x="9691688" y="7705725"/>
            <a:ext cx="8371522" cy="209550"/>
          </a:xfrm>
          <a:prstGeom prst="rect">
            <a:avLst/>
          </a:prstGeom>
          <a:noFill/>
          <a:ln/>
        </p:spPr>
        <p:txBody>
          <a:bodyPr wrap="square" lIns="25400" tIns="25400" rIns="25400" bIns="25400" rtlCol="0" anchor="t">
            <a:normAutofit/>
          </a:bodyPr>
          <a:lstStyle/>
          <a:p>
            <a:pPr algn="l" indent="0" marL="0">
              <a:buNone/>
            </a:pPr>
            <a:r>
              <a:rPr lang="en-US" sz="1013" dirty="0">
                <a:solidFill>
                  <a:srgbClr val="5F6B7A"/>
                </a:solidFill>
                <a:latin typeface="IBM Plex Mono" pitchFamily="34" charset="0"/>
                <a:ea typeface="IBM Plex Mono" pitchFamily="34" charset="-122"/>
                <a:cs typeface="IBM Plex Mono" pitchFamily="34" charset="-120"/>
              </a:rPr>
              <a:t>provides → published graph + APIs · consumes → evidence schemas (F3/F7)</a:t>
            </a:r>
            <a:endParaRPr lang="en-US" sz="1013" dirty="0"/>
          </a:p>
        </p:txBody>
      </p:sp>
      <p:sp>
        <p:nvSpPr>
          <p:cNvPr id="28" name="Shape 26"/>
          <p:cNvSpPr/>
          <p:nvPr/>
        </p:nvSpPr>
        <p:spPr>
          <a:xfrm>
            <a:off x="571500" y="9086850"/>
            <a:ext cx="8458200" cy="857250"/>
          </a:xfrm>
          <a:prstGeom prst="roundRect">
            <a:avLst>
              <a:gd name="adj" fmla="val 8889"/>
            </a:avLst>
          </a:prstGeom>
          <a:solidFill>
            <a:srgbClr val="F2F4F6"/>
          </a:solidFill>
          <a:ln/>
        </p:spPr>
      </p:sp>
      <p:sp>
        <p:nvSpPr>
          <p:cNvPr id="29" name="Text 27"/>
          <p:cNvSpPr/>
          <p:nvPr/>
        </p:nvSpPr>
        <p:spPr>
          <a:xfrm>
            <a:off x="742950" y="9201150"/>
            <a:ext cx="8369046" cy="666750"/>
          </a:xfrm>
          <a:prstGeom prst="rect">
            <a:avLst/>
          </a:prstGeom>
          <a:noFill/>
          <a:ln/>
        </p:spPr>
        <p:txBody>
          <a:bodyPr wrap="square" lIns="25400" tIns="25400" rIns="25400" bIns="25400" rtlCol="0" anchor="t">
            <a:normAutofit/>
          </a:bodyPr>
          <a:lstStyle/>
          <a:p>
            <a:pPr algn="l" indent="0" marL="0">
              <a:lnSpc>
                <a:spcPct val="118421"/>
              </a:lnSpc>
              <a:buNone/>
            </a:pPr>
            <a:r>
              <a:rPr lang="en-US" sz="1125" b="1" dirty="0">
                <a:solidFill>
                  <a:srgbClr val="232F3E"/>
                </a:solidFill>
                <a:latin typeface="IBM Plex Sans" pitchFamily="34" charset="0"/>
                <a:ea typeface="IBM Plex Sans" pitchFamily="34" charset="-122"/>
                <a:cs typeface="IBM Plex Sans" pitchFamily="34" charset="-120"/>
              </a:rPr>
              <a:t>Why this cut works: </a:t>
            </a:r>
            <a:pPr algn="l" indent="0" marL="0">
              <a:lnSpc>
                <a:spcPct val="118421"/>
              </a:lnSpc>
              <a:buNone/>
            </a:pPr>
            <a:r>
              <a:rPr lang="en-US" sz="1125" dirty="0">
                <a:solidFill>
                  <a:srgbClr val="232F3E"/>
                </a:solidFill>
                <a:highlight>
                  <a:srgbClr val="F2F4F6"/>
                </a:highlight>
                <a:latin typeface="IBM Plex Sans" pitchFamily="34" charset="0"/>
                <a:ea typeface="IBM Plex Sans" pitchFamily="34" charset="-122"/>
                <a:cs typeface="IBM Plex Sans" pitchFamily="34" charset="-120"/>
              </a:rPr>
              <a:t>each pod's boundary is a frozen contract, so pods never wait on each other's internals — A1 unblocks all three, A2→B1 via task specs, B1→B2 via evidence schemas. E2E harness is co-owned: A2 drives it, every pod lands its own Test Suite sections. No separate QA pod.</a:t>
            </a:r>
            <a:endParaRPr lang="en-US" sz="1125" dirty="0"/>
          </a:p>
        </p:txBody>
      </p:sp>
      <p:sp>
        <p:nvSpPr>
          <p:cNvPr id="30" name="Shape 28"/>
          <p:cNvSpPr/>
          <p:nvPr/>
        </p:nvSpPr>
        <p:spPr>
          <a:xfrm>
            <a:off x="9258300" y="9086850"/>
            <a:ext cx="8458200" cy="857250"/>
          </a:xfrm>
          <a:prstGeom prst="roundRect">
            <a:avLst>
              <a:gd name="adj" fmla="val 8889"/>
            </a:avLst>
          </a:prstGeom>
          <a:solidFill>
            <a:srgbClr val="FDF0DC"/>
          </a:solidFill>
          <a:ln/>
        </p:spPr>
      </p:sp>
      <p:sp>
        <p:nvSpPr>
          <p:cNvPr id="31" name="Text 29"/>
          <p:cNvSpPr/>
          <p:nvPr/>
        </p:nvSpPr>
        <p:spPr>
          <a:xfrm>
            <a:off x="9429750" y="9201150"/>
            <a:ext cx="8369046" cy="666750"/>
          </a:xfrm>
          <a:prstGeom prst="rect">
            <a:avLst/>
          </a:prstGeom>
          <a:noFill/>
          <a:ln/>
        </p:spPr>
        <p:txBody>
          <a:bodyPr wrap="square" lIns="25400" tIns="25400" rIns="25400" bIns="25400" rtlCol="0" anchor="t">
            <a:normAutofit/>
          </a:bodyPr>
          <a:lstStyle/>
          <a:p>
            <a:pPr algn="l" indent="0" marL="0">
              <a:lnSpc>
                <a:spcPct val="118421"/>
              </a:lnSpc>
              <a:buNone/>
            </a:pPr>
            <a:r>
              <a:rPr lang="en-US" sz="1125" b="1" dirty="0">
                <a:solidFill>
                  <a:srgbClr val="232F3E"/>
                </a:solidFill>
                <a:latin typeface="IBM Plex Sans" pitchFamily="34" charset="0"/>
                <a:ea typeface="IBM Plex Sans" pitchFamily="34" charset="-122"/>
                <a:cs typeface="IBM Plex Sans" pitchFamily="34" charset="-120"/>
              </a:rPr>
              <a:t>The one mandatory integration: </a:t>
            </a:r>
            <a:pPr algn="l" indent="0" marL="0">
              <a:lnSpc>
                <a:spcPct val="118421"/>
              </a:lnSpc>
              <a:buNone/>
            </a:pPr>
            <a:r>
              <a:rPr lang="en-US" sz="1125" dirty="0">
                <a:solidFill>
                  <a:srgbClr val="232F3E"/>
                </a:solidFill>
                <a:highlight>
                  <a:srgbClr val="FDF0DC"/>
                </a:highlight>
                <a:latin typeface="IBM Plex Sans" pitchFamily="34" charset="0"/>
                <a:ea typeface="IBM Plex Sans" pitchFamily="34" charset="-122"/>
                <a:cs typeface="IBM Plex Sans" pitchFamily="34" charset="-120"/>
              </a:rPr>
              <a:t>week-8 walking skeleton — one real push through all four pods' work: intake → run → SCA → merge → review → fenced publish → query. Everything before it can be stubs; nothing after it may be.</a:t>
            </a:r>
            <a:endParaRPr lang="en-US" sz="112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71500" y="419100"/>
            <a:ext cx="18859500" cy="257175"/>
          </a:xfrm>
          <a:prstGeom prst="rect">
            <a:avLst/>
          </a:prstGeom>
          <a:noFill/>
          <a:ln/>
        </p:spPr>
        <p:txBody>
          <a:bodyPr wrap="square" lIns="25400" tIns="25400" rIns="25400" bIns="25400" rtlCol="0" anchor="t">
            <a:normAutofit/>
          </a:bodyPr>
          <a:lstStyle/>
          <a:p>
            <a:pPr algn="l" indent="0" marL="0">
              <a:buNone/>
            </a:pPr>
            <a:r>
              <a:rPr lang="en-US" sz="1350" b="1" spc="150" kern="0" dirty="0">
                <a:solidFill>
                  <a:srgbClr val="5F6B7A"/>
                </a:solidFill>
                <a:latin typeface="IBM Plex Mono" pitchFamily="34" charset="0"/>
                <a:ea typeface="IBM Plex Mono" pitchFamily="34" charset="-122"/>
                <a:cs typeface="IBM Plex Mono" pitchFamily="34" charset="-120"/>
              </a:rPr>
              <a:t>PROVIDE CLARITY · WHO DECIDES WHAT, WHO TALKS TO WHOM, WHEN</a:t>
            </a:r>
            <a:endParaRPr lang="en-US" sz="1350" dirty="0"/>
          </a:p>
        </p:txBody>
      </p:sp>
      <p:sp>
        <p:nvSpPr>
          <p:cNvPr id="3" name="Text 1"/>
          <p:cNvSpPr/>
          <p:nvPr/>
        </p:nvSpPr>
        <p:spPr>
          <a:xfrm>
            <a:off x="571500" y="676275"/>
            <a:ext cx="18859500" cy="533400"/>
          </a:xfrm>
          <a:prstGeom prst="rect">
            <a:avLst/>
          </a:prstGeom>
          <a:noFill/>
          <a:ln/>
        </p:spPr>
        <p:txBody>
          <a:bodyPr wrap="square" lIns="25400" tIns="25400" rIns="25400" bIns="25400" rtlCol="0" anchor="t">
            <a:normAutofit/>
          </a:bodyPr>
          <a:lstStyle/>
          <a:p>
            <a:pPr algn="l" indent="0" marL="0">
              <a:buNone/>
            </a:pPr>
            <a:r>
              <a:rPr lang="en-US" sz="3000" b="1" dirty="0">
                <a:solidFill>
                  <a:srgbClr val="232F3E"/>
                </a:solidFill>
                <a:latin typeface="IBM Plex Sans" pitchFamily="34" charset="0"/>
                <a:ea typeface="IBM Plex Sans" pitchFamily="34" charset="-122"/>
                <a:cs typeface="IBM Plex Sans" pitchFamily="34" charset="-120"/>
              </a:rPr>
              <a:t>The clarity contract</a:t>
            </a:r>
            <a:endParaRPr lang="en-US" sz="3000" dirty="0"/>
          </a:p>
        </p:txBody>
      </p:sp>
      <p:sp>
        <p:nvSpPr>
          <p:cNvPr id="4" name="Shape 2"/>
          <p:cNvSpPr/>
          <p:nvPr/>
        </p:nvSpPr>
        <p:spPr>
          <a:xfrm>
            <a:off x="571500" y="1400175"/>
            <a:ext cx="5562600" cy="1666875"/>
          </a:xfrm>
          <a:prstGeom prst="roundRect">
            <a:avLst>
              <a:gd name="adj" fmla="val 5714"/>
            </a:avLst>
          </a:prstGeom>
          <a:ln w="19050">
            <a:solidFill>
              <a:srgbClr val="7AA116"/>
            </a:solidFill>
            <a:prstDash val="solid"/>
          </a:ln>
        </p:spPr>
      </p:sp>
      <p:sp>
        <p:nvSpPr>
          <p:cNvPr id="5" name="Text 3"/>
          <p:cNvSpPr/>
          <p:nvPr/>
        </p:nvSpPr>
        <p:spPr>
          <a:xfrm>
            <a:off x="800100" y="1590675"/>
            <a:ext cx="5615940" cy="276225"/>
          </a:xfrm>
          <a:prstGeom prst="rect">
            <a:avLst/>
          </a:prstGeom>
          <a:noFill/>
          <a:ln/>
        </p:spPr>
        <p:txBody>
          <a:bodyPr wrap="square" lIns="25400" tIns="25400" rIns="25400" bIns="25400" rtlCol="0" anchor="t">
            <a:normAutofit/>
          </a:bodyPr>
          <a:lstStyle/>
          <a:p>
            <a:pPr algn="l" indent="0" marL="0">
              <a:buNone/>
            </a:pPr>
            <a:r>
              <a:rPr lang="en-US" sz="1500" b="1" dirty="0">
                <a:solidFill>
                  <a:srgbClr val="7AA116"/>
                </a:solidFill>
                <a:latin typeface="IBM Plex Sans" pitchFamily="34" charset="0"/>
                <a:ea typeface="IBM Plex Sans" pitchFamily="34" charset="-122"/>
                <a:cs typeface="IBM Plex Sans" pitchFamily="34" charset="-120"/>
              </a:rPr>
              <a:t>A pod decides alone</a:t>
            </a:r>
            <a:endParaRPr lang="en-US" sz="1500" dirty="0"/>
          </a:p>
        </p:txBody>
      </p:sp>
      <p:sp>
        <p:nvSpPr>
          <p:cNvPr id="6" name="Text 4"/>
          <p:cNvSpPr/>
          <p:nvPr/>
        </p:nvSpPr>
        <p:spPr>
          <a:xfrm>
            <a:off x="800100" y="1924050"/>
            <a:ext cx="5258562" cy="990600"/>
          </a:xfrm>
          <a:prstGeom prst="rect">
            <a:avLst/>
          </a:prstGeom>
          <a:noFill/>
          <a:ln/>
        </p:spPr>
        <p:txBody>
          <a:bodyPr wrap="square" lIns="25400" tIns="25400" rIns="25400" bIns="25400" rtlCol="0" anchor="t">
            <a:normAutofit/>
          </a:bodyPr>
          <a:lstStyle/>
          <a:p>
            <a:pPr algn="l" indent="0" marL="0">
              <a:lnSpc>
                <a:spcPct val="128000"/>
              </a:lnSpc>
              <a:buNone/>
            </a:pPr>
            <a:r>
              <a:rPr lang="en-US" sz="1200" dirty="0">
                <a:solidFill>
                  <a:srgbClr val="232F3E"/>
                </a:solidFill>
                <a:latin typeface="IBM Plex Sans" pitchFamily="34" charset="0"/>
                <a:ea typeface="IBM Plex Sans" pitchFamily="34" charset="-122"/>
                <a:cs typeface="IBM Plex Sans" pitchFamily="34" charset="-120"/>
              </a:rPr>
              <a:t>Internal design and code structure · library choices within the pinned stack (Python 3.12, CDK/TS, React) · its own test fixtures · task sizing and sequencing inside its milestones · refactors that don't touch a frozen contract.</a:t>
            </a:r>
            <a:endParaRPr lang="en-US" sz="1200" dirty="0"/>
          </a:p>
        </p:txBody>
      </p:sp>
      <p:sp>
        <p:nvSpPr>
          <p:cNvPr id="7" name="Shape 5"/>
          <p:cNvSpPr/>
          <p:nvPr/>
        </p:nvSpPr>
        <p:spPr>
          <a:xfrm>
            <a:off x="6362700" y="1400175"/>
            <a:ext cx="5562600" cy="1666875"/>
          </a:xfrm>
          <a:prstGeom prst="roundRect">
            <a:avLst>
              <a:gd name="adj" fmla="val 5714"/>
            </a:avLst>
          </a:prstGeom>
          <a:ln w="19050">
            <a:solidFill>
              <a:srgbClr val="C8511B"/>
            </a:solidFill>
            <a:prstDash val="solid"/>
          </a:ln>
        </p:spPr>
      </p:sp>
      <p:sp>
        <p:nvSpPr>
          <p:cNvPr id="8" name="Text 6"/>
          <p:cNvSpPr/>
          <p:nvPr/>
        </p:nvSpPr>
        <p:spPr>
          <a:xfrm>
            <a:off x="6591300" y="1590675"/>
            <a:ext cx="5615940" cy="276225"/>
          </a:xfrm>
          <a:prstGeom prst="rect">
            <a:avLst/>
          </a:prstGeom>
          <a:noFill/>
          <a:ln/>
        </p:spPr>
        <p:txBody>
          <a:bodyPr wrap="square" lIns="25400" tIns="25400" rIns="25400" bIns="25400" rtlCol="0" anchor="t">
            <a:normAutofit/>
          </a:bodyPr>
          <a:lstStyle/>
          <a:p>
            <a:pPr algn="l" indent="0" marL="0">
              <a:buNone/>
            </a:pPr>
            <a:r>
              <a:rPr lang="en-US" sz="1500" b="1" dirty="0">
                <a:solidFill>
                  <a:srgbClr val="C8511B"/>
                </a:solidFill>
                <a:latin typeface="IBM Plex Sans" pitchFamily="34" charset="0"/>
                <a:ea typeface="IBM Plex Sans" pitchFamily="34" charset="-122"/>
                <a:cs typeface="IBM Plex Sans" pitchFamily="34" charset="-120"/>
              </a:rPr>
              <a:t>Pods align together</a:t>
            </a:r>
            <a:endParaRPr lang="en-US" sz="1500" dirty="0"/>
          </a:p>
        </p:txBody>
      </p:sp>
      <p:sp>
        <p:nvSpPr>
          <p:cNvPr id="9" name="Text 7"/>
          <p:cNvSpPr/>
          <p:nvPr/>
        </p:nvSpPr>
        <p:spPr>
          <a:xfrm>
            <a:off x="6591300" y="1924050"/>
            <a:ext cx="5258562" cy="990600"/>
          </a:xfrm>
          <a:prstGeom prst="rect">
            <a:avLst/>
          </a:prstGeom>
          <a:noFill/>
          <a:ln/>
        </p:spPr>
        <p:txBody>
          <a:bodyPr wrap="square" lIns="25400" tIns="25400" rIns="25400" bIns="25400" rtlCol="0" anchor="t">
            <a:normAutofit/>
          </a:bodyPr>
          <a:lstStyle/>
          <a:p>
            <a:pPr algn="l" indent="0" marL="0">
              <a:lnSpc>
                <a:spcPct val="128000"/>
              </a:lnSpc>
              <a:buNone/>
            </a:pPr>
            <a:r>
              <a:rPr lang="en-US" sz="1200" dirty="0">
                <a:solidFill>
                  <a:srgbClr val="232F3E"/>
                </a:solidFill>
                <a:latin typeface="IBM Plex Sans" pitchFamily="34" charset="0"/>
                <a:ea typeface="IBM Plex Sans" pitchFamily="34" charset="-122"/>
                <a:cs typeface="IBM Plex Sans" pitchFamily="34" charset="-120"/>
              </a:rPr>
              <a:t>Any change to a frozen contract — major version bump + migration note + the consuming pod's sign-off · evidence schema extensions · new correlation fields · shared fixture changes (seeded repos, catalog snapshot) · the walking-skeleton integration date.</a:t>
            </a:r>
            <a:endParaRPr lang="en-US" sz="1200" dirty="0"/>
          </a:p>
        </p:txBody>
      </p:sp>
      <p:sp>
        <p:nvSpPr>
          <p:cNvPr id="10" name="Shape 8"/>
          <p:cNvSpPr/>
          <p:nvPr/>
        </p:nvSpPr>
        <p:spPr>
          <a:xfrm>
            <a:off x="12153900" y="1400175"/>
            <a:ext cx="5562600" cy="1666875"/>
          </a:xfrm>
          <a:prstGeom prst="roundRect">
            <a:avLst>
              <a:gd name="adj" fmla="val 5714"/>
            </a:avLst>
          </a:prstGeom>
          <a:ln w="19050">
            <a:solidFill>
              <a:srgbClr val="BD0816"/>
            </a:solidFill>
            <a:prstDash val="solid"/>
          </a:ln>
        </p:spPr>
      </p:sp>
      <p:sp>
        <p:nvSpPr>
          <p:cNvPr id="11" name="Text 9"/>
          <p:cNvSpPr/>
          <p:nvPr/>
        </p:nvSpPr>
        <p:spPr>
          <a:xfrm>
            <a:off x="12382500" y="1590675"/>
            <a:ext cx="5615940" cy="276225"/>
          </a:xfrm>
          <a:prstGeom prst="rect">
            <a:avLst/>
          </a:prstGeom>
          <a:noFill/>
          <a:ln/>
        </p:spPr>
        <p:txBody>
          <a:bodyPr wrap="square" lIns="25400" tIns="25400" rIns="25400" bIns="25400" rtlCol="0" anchor="t">
            <a:normAutofit/>
          </a:bodyPr>
          <a:lstStyle/>
          <a:p>
            <a:pPr algn="l" indent="0" marL="0">
              <a:buNone/>
            </a:pPr>
            <a:r>
              <a:rPr lang="en-US" sz="1500" b="1" dirty="0">
                <a:solidFill>
                  <a:srgbClr val="BD0816"/>
                </a:solidFill>
                <a:latin typeface="IBM Plex Sans" pitchFamily="34" charset="0"/>
                <a:ea typeface="IBM Plex Sans" pitchFamily="34" charset="-122"/>
                <a:cs typeface="IBM Plex Sans" pitchFamily="34" charset="-120"/>
              </a:rPr>
              <a:t>Leadership decides</a:t>
            </a:r>
            <a:endParaRPr lang="en-US" sz="1500" dirty="0"/>
          </a:p>
        </p:txBody>
      </p:sp>
      <p:sp>
        <p:nvSpPr>
          <p:cNvPr id="12" name="Text 10"/>
          <p:cNvSpPr/>
          <p:nvPr/>
        </p:nvSpPr>
        <p:spPr>
          <a:xfrm>
            <a:off x="12382500" y="1924050"/>
            <a:ext cx="5258562" cy="990600"/>
          </a:xfrm>
          <a:prstGeom prst="rect">
            <a:avLst/>
          </a:prstGeom>
          <a:noFill/>
          <a:ln/>
        </p:spPr>
        <p:txBody>
          <a:bodyPr wrap="square" lIns="25400" tIns="25400" rIns="25400" bIns="25400" rtlCol="0" anchor="t">
            <a:normAutofit/>
          </a:bodyPr>
          <a:lstStyle/>
          <a:p>
            <a:pPr algn="l" indent="0" marL="0">
              <a:lnSpc>
                <a:spcPct val="128000"/>
              </a:lnSpc>
              <a:buNone/>
            </a:pPr>
            <a:r>
              <a:rPr lang="en-US" sz="1200" dirty="0">
                <a:solidFill>
                  <a:srgbClr val="232F3E"/>
                </a:solidFill>
                <a:latin typeface="IBM Plex Sans" pitchFamily="34" charset="0"/>
                <a:ea typeface="IBM Plex Sans" pitchFamily="34" charset="-122"/>
                <a:cs typeface="IBM Plex Sans" pitchFamily="34" charset="-120"/>
              </a:rPr>
              <a:t>CodeQL go/no-go at week 6 (on the spike's measured criteria) · any descope or re-scope (LLM, OTel timing, PR gate) · auto-publish policy sign-off with governance · launch-gate thresholds · adding or moving people across pods.</a:t>
            </a:r>
            <a:endParaRPr lang="en-US" sz="1200" dirty="0"/>
          </a:p>
        </p:txBody>
      </p:sp>
      <p:sp>
        <p:nvSpPr>
          <p:cNvPr id="13" name="Shape 11"/>
          <p:cNvSpPr/>
          <p:nvPr/>
        </p:nvSpPr>
        <p:spPr>
          <a:xfrm>
            <a:off x="571500" y="3238500"/>
            <a:ext cx="4186238" cy="1095375"/>
          </a:xfrm>
          <a:prstGeom prst="roundRect">
            <a:avLst>
              <a:gd name="adj" fmla="val 6957"/>
            </a:avLst>
          </a:prstGeom>
          <a:solidFill>
            <a:srgbClr val="F2F4F6"/>
          </a:solidFill>
          <a:ln/>
        </p:spPr>
      </p:sp>
      <p:sp>
        <p:nvSpPr>
          <p:cNvPr id="14" name="Text 12"/>
          <p:cNvSpPr/>
          <p:nvPr/>
        </p:nvSpPr>
        <p:spPr>
          <a:xfrm>
            <a:off x="723900" y="3371850"/>
            <a:ext cx="4269581" cy="228600"/>
          </a:xfrm>
          <a:prstGeom prst="rect">
            <a:avLst/>
          </a:prstGeom>
          <a:noFill/>
          <a:ln/>
        </p:spPr>
        <p:txBody>
          <a:bodyPr wrap="square" lIns="25400" tIns="25400" rIns="25400" bIns="25400" rtlCol="0" anchor="t">
            <a:normAutofit/>
          </a:bodyPr>
          <a:lstStyle/>
          <a:p>
            <a:pPr algn="l" indent="0" marL="0">
              <a:buNone/>
            </a:pPr>
            <a:r>
              <a:rPr lang="en-US" sz="1200" b="1" dirty="0">
                <a:solidFill>
                  <a:srgbClr val="232F3E"/>
                </a:solidFill>
                <a:latin typeface="IBM Plex Sans" pitchFamily="34" charset="0"/>
                <a:ea typeface="IBM Plex Sans" pitchFamily="34" charset="-122"/>
                <a:cs typeface="IBM Plex Sans" pitchFamily="34" charset="-120"/>
              </a:rPr>
              <a:t>Pod owner</a:t>
            </a:r>
            <a:endParaRPr lang="en-US" sz="1200" dirty="0"/>
          </a:p>
        </p:txBody>
      </p:sp>
      <p:sp>
        <p:nvSpPr>
          <p:cNvPr id="15" name="Text 13"/>
          <p:cNvSpPr/>
          <p:nvPr/>
        </p:nvSpPr>
        <p:spPr>
          <a:xfrm>
            <a:off x="723900" y="3600450"/>
            <a:ext cx="3997881" cy="438150"/>
          </a:xfrm>
          <a:prstGeom prst="rect">
            <a:avLst/>
          </a:prstGeom>
          <a:noFill/>
          <a:ln/>
        </p:spPr>
        <p:txBody>
          <a:bodyPr wrap="square" lIns="25400" tIns="25400" rIns="25400" bIns="25400" rtlCol="0" anchor="t">
            <a:normAutofit/>
          </a:bodyPr>
          <a:lstStyle/>
          <a:p>
            <a:pPr algn="l" indent="0" marL="0">
              <a:lnSpc>
                <a:spcPct val="116667"/>
              </a:lnSpc>
              <a:buNone/>
            </a:pPr>
            <a:r>
              <a:rPr lang="en-US" sz="1050" dirty="0">
                <a:solidFill>
                  <a:srgbClr val="3D4A5C"/>
                </a:solidFill>
                <a:latin typeface="IBM Plex Sans" pitchFamily="34" charset="0"/>
                <a:ea typeface="IBM Plex Sans" pitchFamily="34" charset="-122"/>
                <a:cs typeface="IBM Plex Sans" pitchFamily="34" charset="-120"/>
              </a:rPr>
              <a:t>Plans the pod's slice; accountable for its freezes and Test Suite sections; the pod's single voice in freeze reviews.</a:t>
            </a:r>
            <a:endParaRPr lang="en-US" sz="1050" dirty="0"/>
          </a:p>
        </p:txBody>
      </p:sp>
      <p:sp>
        <p:nvSpPr>
          <p:cNvPr id="16" name="Shape 14"/>
          <p:cNvSpPr/>
          <p:nvPr/>
        </p:nvSpPr>
        <p:spPr>
          <a:xfrm>
            <a:off x="4891088" y="3238500"/>
            <a:ext cx="4186238" cy="1095375"/>
          </a:xfrm>
          <a:prstGeom prst="roundRect">
            <a:avLst>
              <a:gd name="adj" fmla="val 6957"/>
            </a:avLst>
          </a:prstGeom>
          <a:solidFill>
            <a:srgbClr val="F2F4F6"/>
          </a:solidFill>
          <a:ln/>
        </p:spPr>
      </p:sp>
      <p:sp>
        <p:nvSpPr>
          <p:cNvPr id="17" name="Text 15"/>
          <p:cNvSpPr/>
          <p:nvPr/>
        </p:nvSpPr>
        <p:spPr>
          <a:xfrm>
            <a:off x="5043488" y="3371850"/>
            <a:ext cx="4269581" cy="228600"/>
          </a:xfrm>
          <a:prstGeom prst="rect">
            <a:avLst/>
          </a:prstGeom>
          <a:noFill/>
          <a:ln/>
        </p:spPr>
        <p:txBody>
          <a:bodyPr wrap="square" lIns="25400" tIns="25400" rIns="25400" bIns="25400" rtlCol="0" anchor="t">
            <a:normAutofit/>
          </a:bodyPr>
          <a:lstStyle/>
          <a:p>
            <a:pPr algn="l" indent="0" marL="0">
              <a:buNone/>
            </a:pPr>
            <a:r>
              <a:rPr lang="en-US" sz="1200" b="1" dirty="0">
                <a:solidFill>
                  <a:srgbClr val="232F3E"/>
                </a:solidFill>
                <a:latin typeface="IBM Plex Sans" pitchFamily="34" charset="0"/>
                <a:ea typeface="IBM Plex Sans" pitchFamily="34" charset="-122"/>
                <a:cs typeface="IBM Plex Sans" pitchFamily="34" charset="-120"/>
              </a:rPr>
              <a:t>Leadership</a:t>
            </a:r>
            <a:endParaRPr lang="en-US" sz="1200" dirty="0"/>
          </a:p>
        </p:txBody>
      </p:sp>
      <p:sp>
        <p:nvSpPr>
          <p:cNvPr id="18" name="Text 16"/>
          <p:cNvSpPr/>
          <p:nvPr/>
        </p:nvSpPr>
        <p:spPr>
          <a:xfrm>
            <a:off x="5043488" y="3600450"/>
            <a:ext cx="3997881" cy="438150"/>
          </a:xfrm>
          <a:prstGeom prst="rect">
            <a:avLst/>
          </a:prstGeom>
          <a:noFill/>
          <a:ln/>
        </p:spPr>
        <p:txBody>
          <a:bodyPr wrap="square" lIns="25400" tIns="25400" rIns="25400" bIns="25400" rtlCol="0" anchor="t">
            <a:normAutofit/>
          </a:bodyPr>
          <a:lstStyle/>
          <a:p>
            <a:pPr algn="l" indent="0" marL="0">
              <a:lnSpc>
                <a:spcPct val="116667"/>
              </a:lnSpc>
              <a:buNone/>
            </a:pPr>
            <a:r>
              <a:rPr lang="en-US" sz="1050" dirty="0">
                <a:solidFill>
                  <a:srgbClr val="3D4A5C"/>
                </a:solidFill>
                <a:latin typeface="IBM Plex Sans" pitchFamily="34" charset="0"/>
                <a:ea typeface="IBM Plex Sans" pitchFamily="34" charset="-122"/>
                <a:cs typeface="IBM Plex Sans" pitchFamily="34" charset="-120"/>
              </a:rPr>
              <a:t>Direction and tie-breaks: spike verdicts, descope, cross-pod conflicts; owns the decision log and milestone reviews.</a:t>
            </a:r>
            <a:endParaRPr lang="en-US" sz="1050" dirty="0"/>
          </a:p>
        </p:txBody>
      </p:sp>
      <p:sp>
        <p:nvSpPr>
          <p:cNvPr id="19" name="Shape 17"/>
          <p:cNvSpPr/>
          <p:nvPr/>
        </p:nvSpPr>
        <p:spPr>
          <a:xfrm>
            <a:off x="9210675" y="3238500"/>
            <a:ext cx="4186238" cy="1095375"/>
          </a:xfrm>
          <a:prstGeom prst="roundRect">
            <a:avLst>
              <a:gd name="adj" fmla="val 6957"/>
            </a:avLst>
          </a:prstGeom>
          <a:solidFill>
            <a:srgbClr val="F2F4F6"/>
          </a:solidFill>
          <a:ln/>
        </p:spPr>
      </p:sp>
      <p:sp>
        <p:nvSpPr>
          <p:cNvPr id="20" name="Text 18"/>
          <p:cNvSpPr/>
          <p:nvPr/>
        </p:nvSpPr>
        <p:spPr>
          <a:xfrm>
            <a:off x="9363075" y="3371850"/>
            <a:ext cx="4269581" cy="228600"/>
          </a:xfrm>
          <a:prstGeom prst="rect">
            <a:avLst/>
          </a:prstGeom>
          <a:noFill/>
          <a:ln/>
        </p:spPr>
        <p:txBody>
          <a:bodyPr wrap="square" lIns="25400" tIns="25400" rIns="25400" bIns="25400" rtlCol="0" anchor="t">
            <a:normAutofit/>
          </a:bodyPr>
          <a:lstStyle/>
          <a:p>
            <a:pPr algn="l" indent="0" marL="0">
              <a:buNone/>
            </a:pPr>
            <a:r>
              <a:rPr lang="en-US" sz="1200" b="1" dirty="0">
                <a:solidFill>
                  <a:srgbClr val="232F3E"/>
                </a:solidFill>
                <a:latin typeface="IBM Plex Sans" pitchFamily="34" charset="0"/>
                <a:ea typeface="IBM Plex Sans" pitchFamily="34" charset="-122"/>
                <a:cs typeface="IBM Plex Sans" pitchFamily="34" charset="-120"/>
              </a:rPr>
              <a:t>Contract owner</a:t>
            </a:r>
            <a:endParaRPr lang="en-US" sz="1200" dirty="0"/>
          </a:p>
        </p:txBody>
      </p:sp>
      <p:sp>
        <p:nvSpPr>
          <p:cNvPr id="21" name="Text 19"/>
          <p:cNvSpPr/>
          <p:nvPr/>
        </p:nvSpPr>
        <p:spPr>
          <a:xfrm>
            <a:off x="9363075" y="3600450"/>
            <a:ext cx="3997881" cy="438150"/>
          </a:xfrm>
          <a:prstGeom prst="rect">
            <a:avLst/>
          </a:prstGeom>
          <a:noFill/>
          <a:ln/>
        </p:spPr>
        <p:txBody>
          <a:bodyPr wrap="square" lIns="25400" tIns="25400" rIns="25400" bIns="25400" rtlCol="0" anchor="t">
            <a:normAutofit/>
          </a:bodyPr>
          <a:lstStyle/>
          <a:p>
            <a:pPr algn="l" indent="0" marL="0">
              <a:lnSpc>
                <a:spcPct val="116667"/>
              </a:lnSpc>
              <a:buNone/>
            </a:pPr>
            <a:r>
              <a:rPr lang="en-US" sz="1050" dirty="0">
                <a:solidFill>
                  <a:srgbClr val="3D4A5C"/>
                </a:solidFill>
                <a:latin typeface="IBM Plex Sans" pitchFamily="34" charset="0"/>
                <a:ea typeface="IBM Plex Sans" pitchFamily="34" charset="-122"/>
                <a:cs typeface="IBM Plex Sans" pitchFamily="34" charset="-120"/>
              </a:rPr>
              <a:t>Guards schema versioning; approves major bumps with the consuming pod; keeps the contracts changelog.</a:t>
            </a:r>
            <a:endParaRPr lang="en-US" sz="1050" dirty="0"/>
          </a:p>
        </p:txBody>
      </p:sp>
      <p:sp>
        <p:nvSpPr>
          <p:cNvPr id="22" name="Shape 20"/>
          <p:cNvSpPr/>
          <p:nvPr/>
        </p:nvSpPr>
        <p:spPr>
          <a:xfrm>
            <a:off x="13530263" y="3238500"/>
            <a:ext cx="4186238" cy="1095375"/>
          </a:xfrm>
          <a:prstGeom prst="roundRect">
            <a:avLst>
              <a:gd name="adj" fmla="val 6957"/>
            </a:avLst>
          </a:prstGeom>
          <a:solidFill>
            <a:srgbClr val="F2F4F6"/>
          </a:solidFill>
          <a:ln/>
        </p:spPr>
      </p:sp>
      <p:sp>
        <p:nvSpPr>
          <p:cNvPr id="23" name="Text 21"/>
          <p:cNvSpPr/>
          <p:nvPr/>
        </p:nvSpPr>
        <p:spPr>
          <a:xfrm>
            <a:off x="13682663" y="3371850"/>
            <a:ext cx="4269581" cy="228600"/>
          </a:xfrm>
          <a:prstGeom prst="rect">
            <a:avLst/>
          </a:prstGeom>
          <a:noFill/>
          <a:ln/>
        </p:spPr>
        <p:txBody>
          <a:bodyPr wrap="square" lIns="25400" tIns="25400" rIns="25400" bIns="25400" rtlCol="0" anchor="t">
            <a:normAutofit/>
          </a:bodyPr>
          <a:lstStyle/>
          <a:p>
            <a:pPr algn="l" indent="0" marL="0">
              <a:buNone/>
            </a:pPr>
            <a:r>
              <a:rPr lang="en-US" sz="1200" b="1" dirty="0">
                <a:solidFill>
                  <a:srgbClr val="232F3E"/>
                </a:solidFill>
                <a:latin typeface="IBM Plex Sans" pitchFamily="34" charset="0"/>
                <a:ea typeface="IBM Plex Sans" pitchFamily="34" charset="-122"/>
                <a:cs typeface="IBM Plex Sans" pitchFamily="34" charset="-120"/>
              </a:rPr>
              <a:t>Product</a:t>
            </a:r>
            <a:endParaRPr lang="en-US" sz="1200" dirty="0"/>
          </a:p>
        </p:txBody>
      </p:sp>
      <p:sp>
        <p:nvSpPr>
          <p:cNvPr id="24" name="Text 22"/>
          <p:cNvSpPr/>
          <p:nvPr/>
        </p:nvSpPr>
        <p:spPr>
          <a:xfrm>
            <a:off x="13682663" y="3600450"/>
            <a:ext cx="3997881" cy="638175"/>
          </a:xfrm>
          <a:prstGeom prst="rect">
            <a:avLst/>
          </a:prstGeom>
          <a:noFill/>
          <a:ln/>
        </p:spPr>
        <p:txBody>
          <a:bodyPr wrap="square" lIns="25400" tIns="25400" rIns="25400" bIns="25400" rtlCol="0" anchor="t">
            <a:normAutofit/>
          </a:bodyPr>
          <a:lstStyle/>
          <a:p>
            <a:pPr algn="l" indent="0" marL="0">
              <a:lnSpc>
                <a:spcPct val="116667"/>
              </a:lnSpc>
              <a:buNone/>
            </a:pPr>
            <a:r>
              <a:rPr lang="en-US" sz="1050" dirty="0">
                <a:solidFill>
                  <a:srgbClr val="3D4A5C"/>
                </a:solidFill>
                <a:latin typeface="IBM Plex Sans" pitchFamily="34" charset="0"/>
                <a:ea typeface="IBM Plex Sans" pitchFamily="34" charset="-122"/>
                <a:cs typeface="IBM Plex Sans" pitchFamily="34" charset="-120"/>
              </a:rPr>
              <a:t>Owns priorities and descope trade-offs; represents lineage consumers (reviewers, engineers); defines UAT acceptance and signs launch readiness.</a:t>
            </a:r>
            <a:endParaRPr lang="en-US" sz="1050" dirty="0"/>
          </a:p>
        </p:txBody>
      </p:sp>
      <p:sp>
        <p:nvSpPr>
          <p:cNvPr id="25" name="Shape 23"/>
          <p:cNvSpPr/>
          <p:nvPr/>
        </p:nvSpPr>
        <p:spPr>
          <a:xfrm>
            <a:off x="571500" y="4505325"/>
            <a:ext cx="8458200" cy="5438775"/>
          </a:xfrm>
          <a:prstGeom prst="roundRect">
            <a:avLst>
              <a:gd name="adj" fmla="val 1751"/>
            </a:avLst>
          </a:prstGeom>
          <a:ln w="14288">
            <a:solidFill>
              <a:srgbClr val="B9C2CC"/>
            </a:solidFill>
            <a:prstDash val="solid"/>
          </a:ln>
        </p:spPr>
      </p:sp>
      <p:sp>
        <p:nvSpPr>
          <p:cNvPr id="26" name="Text 24"/>
          <p:cNvSpPr/>
          <p:nvPr/>
        </p:nvSpPr>
        <p:spPr>
          <a:xfrm>
            <a:off x="833438" y="5181600"/>
            <a:ext cx="8727758"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232F3E"/>
                </a:solidFill>
                <a:latin typeface="IBM Plex Sans" pitchFamily="34" charset="0"/>
                <a:ea typeface="IBM Plex Sans" pitchFamily="34" charset="-122"/>
                <a:cs typeface="IBM Plex Sans" pitchFamily="34" charset="-120"/>
              </a:rPr>
              <a:t>Cadence — deliberately thin</a:t>
            </a:r>
            <a:endParaRPr lang="en-US" sz="1650" dirty="0"/>
          </a:p>
        </p:txBody>
      </p:sp>
      <p:sp>
        <p:nvSpPr>
          <p:cNvPr id="27" name="Text 25"/>
          <p:cNvSpPr/>
          <p:nvPr/>
        </p:nvSpPr>
        <p:spPr>
          <a:xfrm>
            <a:off x="833438" y="5591175"/>
            <a:ext cx="8727758" cy="266700"/>
          </a:xfrm>
          <a:prstGeom prst="rect">
            <a:avLst/>
          </a:prstGeom>
          <a:noFill/>
          <a:ln/>
        </p:spPr>
        <p:txBody>
          <a:bodyPr wrap="square" lIns="25400" tIns="25400" rIns="25400" bIns="25400" rtlCol="0" anchor="t">
            <a:normAutofit/>
          </a:bodyPr>
          <a:lstStyle/>
          <a:p>
            <a:pPr algn="l" indent="0" marL="0">
              <a:lnSpc>
                <a:spcPct val="120000"/>
              </a:lnSpc>
              <a:buNone/>
            </a:pPr>
            <a:r>
              <a:rPr lang="en-US" sz="1200" b="1" dirty="0">
                <a:solidFill>
                  <a:srgbClr val="232F3E"/>
                </a:solidFill>
                <a:latin typeface="IBM Plex Sans" pitchFamily="34" charset="0"/>
                <a:ea typeface="IBM Plex Sans" pitchFamily="34" charset="-122"/>
                <a:cs typeface="IBM Plex Sans" pitchFamily="34" charset="-120"/>
              </a:rPr>
              <a:t>Weekly demo (30 min, all pods): </a:t>
            </a:r>
            <a:pPr algn="l" indent="0" marL="0">
              <a:lnSpc>
                <a:spcPct val="120000"/>
              </a:lnSpc>
              <a:buNone/>
            </a:pPr>
            <a:r>
              <a:rPr lang="en-US" sz="1200" dirty="0">
                <a:solidFill>
                  <a:srgbClr val="232F3E"/>
                </a:solidFill>
                <a:latin typeface="IBM Plex Sans" pitchFamily="34" charset="0"/>
                <a:ea typeface="IBM Plex Sans" pitchFamily="34" charset="-122"/>
                <a:cs typeface="IBM Plex Sans" pitchFamily="34" charset="-120"/>
              </a:rPr>
              <a:t>working software against the milestone, not status.</a:t>
            </a:r>
            <a:endParaRPr lang="en-US" sz="1200" dirty="0"/>
          </a:p>
        </p:txBody>
      </p:sp>
      <p:sp>
        <p:nvSpPr>
          <p:cNvPr id="28" name="Text 26"/>
          <p:cNvSpPr/>
          <p:nvPr/>
        </p:nvSpPr>
        <p:spPr>
          <a:xfrm>
            <a:off x="833438" y="5915025"/>
            <a:ext cx="8172355" cy="1181100"/>
          </a:xfrm>
          <a:prstGeom prst="rect">
            <a:avLst/>
          </a:prstGeom>
          <a:noFill/>
          <a:ln/>
        </p:spPr>
        <p:txBody>
          <a:bodyPr wrap="square" lIns="25400" tIns="25400" rIns="25400" bIns="25400" rtlCol="0" anchor="t">
            <a:normAutofit/>
          </a:bodyPr>
          <a:lstStyle/>
          <a:p>
            <a:pPr algn="l" indent="0" marL="0">
              <a:lnSpc>
                <a:spcPct val="120000"/>
              </a:lnSpc>
              <a:buNone/>
            </a:pPr>
            <a:r>
              <a:rPr lang="en-US" sz="1200" b="1" dirty="0">
                <a:solidFill>
                  <a:srgbClr val="232F3E"/>
                </a:solidFill>
                <a:latin typeface="IBM Plex Sans" pitchFamily="34" charset="0"/>
                <a:ea typeface="IBM Plex Sans" pitchFamily="34" charset="-122"/>
                <a:cs typeface="IBM Plex Sans" pitchFamily="34" charset="-120"/>
              </a:rPr>
              <a:t>Freeze reviews (45 min, per contract F1–F7): </a:t>
            </a:r>
            <a:pPr algn="l" indent="0" marL="0">
              <a:lnSpc>
                <a:spcPct val="120000"/>
              </a:lnSpc>
              <a:buNone/>
            </a:pPr>
            <a:r>
              <a:rPr lang="en-US" sz="1200" dirty="0">
                <a:solidFill>
                  <a:srgbClr val="232F3E"/>
                </a:solidFill>
                <a:latin typeface="IBM Plex Sans" pitchFamily="34" charset="0"/>
                <a:ea typeface="IBM Plex Sans" pitchFamily="34" charset="-122"/>
                <a:cs typeface="IBM Plex Sans" pitchFamily="34" charset="-120"/>
              </a:rPr>
              <a:t>the pod that </a:t>
            </a:r>
            <a:pPr algn="l" indent="0" marL="0">
              <a:lnSpc>
                <a:spcPct val="120000"/>
              </a:lnSpc>
              <a:buNone/>
            </a:pPr>
            <a:r>
              <a:rPr lang="en-US" sz="1200" i="1" dirty="0">
                <a:solidFill>
                  <a:srgbClr val="232F3E"/>
                </a:solidFill>
                <a:latin typeface="IBM Plex Sans" pitchFamily="34" charset="0"/>
                <a:ea typeface="IBM Plex Sans" pitchFamily="34" charset="-122"/>
                <a:cs typeface="IBM Plex Sans" pitchFamily="34" charset="-120"/>
              </a:rPr>
              <a:t>provides </a:t>
            </a:r>
            <a:pPr algn="l" indent="0" marL="0">
              <a:lnSpc>
                <a:spcPct val="120000"/>
              </a:lnSpc>
              <a:buNone/>
            </a:pPr>
            <a:r>
              <a:rPr lang="en-US" sz="1200" dirty="0">
                <a:solidFill>
                  <a:srgbClr val="232F3E"/>
                </a:solidFill>
                <a:latin typeface="IBM Plex Sans" pitchFamily="34" charset="0"/>
                <a:ea typeface="IBM Plex Sans" pitchFamily="34" charset="-122"/>
                <a:cs typeface="IBM Plex Sans" pitchFamily="34" charset="-120"/>
              </a:rPr>
              <a:t>a contract and the pod that </a:t>
            </a:r>
            <a:pPr algn="l" indent="0" marL="0">
              <a:lnSpc>
                <a:spcPct val="120000"/>
              </a:lnSpc>
              <a:buNone/>
            </a:pPr>
            <a:r>
              <a:rPr lang="en-US" sz="1200" i="1" dirty="0">
                <a:solidFill>
                  <a:srgbClr val="232F3E"/>
                </a:solidFill>
                <a:latin typeface="IBM Plex Sans" pitchFamily="34" charset="0"/>
                <a:ea typeface="IBM Plex Sans" pitchFamily="34" charset="-122"/>
                <a:cs typeface="IBM Plex Sans" pitchFamily="34" charset="-120"/>
              </a:rPr>
              <a:t>consumes </a:t>
            </a:r>
            <a:pPr algn="l" indent="0" marL="0">
              <a:lnSpc>
                <a:spcPct val="120000"/>
              </a:lnSpc>
              <a:buNone/>
            </a:pPr>
            <a:r>
              <a:rPr lang="en-US" sz="1200" dirty="0">
                <a:solidFill>
                  <a:srgbClr val="232F3E"/>
                </a:solidFill>
                <a:latin typeface="IBM Plex Sans" pitchFamily="34" charset="0"/>
                <a:ea typeface="IBM Plex Sans" pitchFamily="34" charset="-122"/>
                <a:cs typeface="IBM Plex Sans" pitchFamily="34" charset="-120"/>
              </a:rPr>
              <a:t>it sit together and walk the final schema field by field — names, types, required vs optional, example payloads — and run the pact tests both sides will keep in CI. When both agree, the contract is "frozen": version-pinned in the changelog. From then on the pods build against it independently; any later change is a major version bump needing the consumer's sign-off.</a:t>
            </a:r>
            <a:endParaRPr lang="en-US" sz="1200" dirty="0"/>
          </a:p>
        </p:txBody>
      </p:sp>
      <p:sp>
        <p:nvSpPr>
          <p:cNvPr id="29" name="Text 27"/>
          <p:cNvSpPr/>
          <p:nvPr/>
        </p:nvSpPr>
        <p:spPr>
          <a:xfrm>
            <a:off x="833438" y="7153275"/>
            <a:ext cx="8172355" cy="723900"/>
          </a:xfrm>
          <a:prstGeom prst="rect">
            <a:avLst/>
          </a:prstGeom>
          <a:noFill/>
          <a:ln/>
        </p:spPr>
        <p:txBody>
          <a:bodyPr wrap="square" lIns="25400" tIns="25400" rIns="25400" bIns="25400" rtlCol="0" anchor="t">
            <a:normAutofit/>
          </a:bodyPr>
          <a:lstStyle/>
          <a:p>
            <a:pPr algn="l" indent="0" marL="0">
              <a:lnSpc>
                <a:spcPct val="120000"/>
              </a:lnSpc>
              <a:buNone/>
            </a:pPr>
            <a:r>
              <a:rPr lang="en-US" sz="1200" b="1" dirty="0">
                <a:solidFill>
                  <a:srgbClr val="232F3E"/>
                </a:solidFill>
                <a:latin typeface="IBM Plex Sans" pitchFamily="34" charset="0"/>
                <a:ea typeface="IBM Plex Sans" pitchFamily="34" charset="-122"/>
                <a:cs typeface="IBM Plex Sans" pitchFamily="34" charset="-120"/>
              </a:rPr>
              <a:t>Impediments: </a:t>
            </a:r>
            <a:pPr algn="l" indent="0" marL="0">
              <a:lnSpc>
                <a:spcPct val="120000"/>
              </a:lnSpc>
              <a:buNone/>
            </a:pPr>
            <a:r>
              <a:rPr lang="en-US" sz="1200" dirty="0">
                <a:solidFill>
                  <a:srgbClr val="232F3E"/>
                </a:solidFill>
                <a:latin typeface="IBM Plex Sans" pitchFamily="34" charset="0"/>
                <a:ea typeface="IBM Plex Sans" pitchFamily="34" charset="-122"/>
                <a:cs typeface="IBM Plex Sans" pitchFamily="34" charset="-120"/>
              </a:rPr>
              <a:t>raise in the pod channel same-day; the pod owner escalates anything blocked &gt; 2 days straight to leadership — never parked until the biweekly. Every impediment lands on the shared risk log with an owner and an unblock date.</a:t>
            </a:r>
            <a:endParaRPr lang="en-US" sz="1200" dirty="0"/>
          </a:p>
        </p:txBody>
      </p:sp>
      <p:sp>
        <p:nvSpPr>
          <p:cNvPr id="30" name="Text 28"/>
          <p:cNvSpPr/>
          <p:nvPr/>
        </p:nvSpPr>
        <p:spPr>
          <a:xfrm>
            <a:off x="833438" y="7934325"/>
            <a:ext cx="8172355" cy="495300"/>
          </a:xfrm>
          <a:prstGeom prst="rect">
            <a:avLst/>
          </a:prstGeom>
          <a:noFill/>
          <a:ln/>
        </p:spPr>
        <p:txBody>
          <a:bodyPr wrap="square" lIns="25400" tIns="25400" rIns="25400" bIns="25400" rtlCol="0" anchor="t">
            <a:normAutofit/>
          </a:bodyPr>
          <a:lstStyle/>
          <a:p>
            <a:pPr algn="l" indent="0" marL="0">
              <a:lnSpc>
                <a:spcPct val="120000"/>
              </a:lnSpc>
              <a:buNone/>
            </a:pPr>
            <a:r>
              <a:rPr lang="en-US" sz="1200" b="1" dirty="0">
                <a:solidFill>
                  <a:srgbClr val="232F3E"/>
                </a:solidFill>
                <a:latin typeface="IBM Plex Sans" pitchFamily="34" charset="0"/>
                <a:ea typeface="IBM Plex Sans" pitchFamily="34" charset="-122"/>
                <a:cs typeface="IBM Plex Sans" pitchFamily="34" charset="-120"/>
              </a:rPr>
              <a:t>Progress tracking: </a:t>
            </a:r>
            <a:pPr algn="l" indent="0" marL="0">
              <a:lnSpc>
                <a:spcPct val="120000"/>
              </a:lnSpc>
              <a:buNone/>
            </a:pPr>
            <a:r>
              <a:rPr lang="en-US" sz="1200" dirty="0">
                <a:solidFill>
                  <a:srgbClr val="232F3E"/>
                </a:solidFill>
                <a:latin typeface="IBM Plex Sans" pitchFamily="34" charset="0"/>
                <a:ea typeface="IBM Plex Sans" pitchFamily="34" charset="-122"/>
                <a:cs typeface="IBM Plex Sans" pitchFamily="34" charset="-120"/>
              </a:rPr>
              <a:t>working software, not status — each pod's own board rolls up only to the milestone gates (W3 · W8 · W12 · W15 · W17) and the weekly demo; the launch-gate dashboard is the single source at review time.</a:t>
            </a:r>
            <a:endParaRPr lang="en-US" sz="1200" dirty="0"/>
          </a:p>
        </p:txBody>
      </p:sp>
      <p:sp>
        <p:nvSpPr>
          <p:cNvPr id="31" name="Text 29"/>
          <p:cNvSpPr/>
          <p:nvPr/>
        </p:nvSpPr>
        <p:spPr>
          <a:xfrm>
            <a:off x="833438" y="8486775"/>
            <a:ext cx="8727758" cy="266700"/>
          </a:xfrm>
          <a:prstGeom prst="rect">
            <a:avLst/>
          </a:prstGeom>
          <a:noFill/>
          <a:ln/>
        </p:spPr>
        <p:txBody>
          <a:bodyPr wrap="square" lIns="25400" tIns="25400" rIns="25400" bIns="25400" rtlCol="0" anchor="t">
            <a:normAutofit/>
          </a:bodyPr>
          <a:lstStyle/>
          <a:p>
            <a:pPr algn="l" indent="0" marL="0">
              <a:lnSpc>
                <a:spcPct val="120000"/>
              </a:lnSpc>
              <a:buNone/>
            </a:pPr>
            <a:r>
              <a:rPr lang="en-US" sz="1200" b="1" dirty="0">
                <a:solidFill>
                  <a:srgbClr val="232F3E"/>
                </a:solidFill>
                <a:latin typeface="IBM Plex Sans" pitchFamily="34" charset="0"/>
                <a:ea typeface="IBM Plex Sans" pitchFamily="34" charset="-122"/>
                <a:cs typeface="IBM Plex Sans" pitchFamily="34" charset="-120"/>
              </a:rPr>
              <a:t>Inside a pod: </a:t>
            </a:r>
            <a:pPr algn="l" indent="0" marL="0">
              <a:lnSpc>
                <a:spcPct val="120000"/>
              </a:lnSpc>
              <a:buNone/>
            </a:pPr>
            <a:r>
              <a:rPr lang="en-US" sz="1200" dirty="0">
                <a:solidFill>
                  <a:srgbClr val="232F3E"/>
                </a:solidFill>
                <a:latin typeface="IBM Plex Sans" pitchFamily="34" charset="0"/>
                <a:ea typeface="IBM Plex Sans" pitchFamily="34" charset="-122"/>
                <a:cs typeface="IBM Plex Sans" pitchFamily="34" charset="-120"/>
              </a:rPr>
              <a:t>its own Slack channel and daily standup — the pod's business, run however it likes.</a:t>
            </a:r>
            <a:endParaRPr lang="en-US" sz="1200" dirty="0"/>
          </a:p>
        </p:txBody>
      </p:sp>
      <p:sp>
        <p:nvSpPr>
          <p:cNvPr id="32" name="Text 30"/>
          <p:cNvSpPr/>
          <p:nvPr/>
        </p:nvSpPr>
        <p:spPr>
          <a:xfrm>
            <a:off x="833438" y="8810625"/>
            <a:ext cx="8172355" cy="495300"/>
          </a:xfrm>
          <a:prstGeom prst="rect">
            <a:avLst/>
          </a:prstGeom>
          <a:noFill/>
          <a:ln/>
        </p:spPr>
        <p:txBody>
          <a:bodyPr wrap="square" lIns="25400" tIns="25400" rIns="25400" bIns="25400" rtlCol="0" anchor="t">
            <a:normAutofit/>
          </a:bodyPr>
          <a:lstStyle/>
          <a:p>
            <a:pPr algn="l" indent="0" marL="0">
              <a:lnSpc>
                <a:spcPct val="120000"/>
              </a:lnSpc>
              <a:buNone/>
            </a:pPr>
            <a:r>
              <a:rPr lang="en-US" sz="1200" b="1" dirty="0">
                <a:solidFill>
                  <a:srgbClr val="232F3E"/>
                </a:solidFill>
                <a:latin typeface="IBM Plex Sans" pitchFamily="34" charset="0"/>
                <a:ea typeface="IBM Plex Sans" pitchFamily="34" charset="-122"/>
                <a:cs typeface="IBM Plex Sans" pitchFamily="34" charset="-120"/>
              </a:rPr>
              <a:t>Across pods: </a:t>
            </a:r>
            <a:pPr algn="l" indent="0" marL="0">
              <a:lnSpc>
                <a:spcPct val="120000"/>
              </a:lnSpc>
              <a:buNone/>
            </a:pPr>
            <a:r>
              <a:rPr lang="en-US" sz="1200" dirty="0">
                <a:solidFill>
                  <a:srgbClr val="232F3E"/>
                </a:solidFill>
                <a:latin typeface="IBM Plex Sans" pitchFamily="34" charset="0"/>
                <a:ea typeface="IBM Plex Sans" pitchFamily="34" charset="-122"/>
                <a:cs typeface="IBM Plex Sans" pitchFamily="34" charset="-120"/>
              </a:rPr>
              <a:t>a biweekly owners' sync (30 min, pod owners + leadership) and ad-hoc pairing near freeze dates — but no cross-pod daily standups: if two pods need one, the contract between them is wrong — fix the contract.</a:t>
            </a:r>
            <a:endParaRPr lang="en-US" sz="1200" dirty="0"/>
          </a:p>
        </p:txBody>
      </p:sp>
      <p:sp>
        <p:nvSpPr>
          <p:cNvPr id="33" name="Shape 31"/>
          <p:cNvSpPr/>
          <p:nvPr/>
        </p:nvSpPr>
        <p:spPr>
          <a:xfrm>
            <a:off x="9258300" y="4505325"/>
            <a:ext cx="8458200" cy="5438775"/>
          </a:xfrm>
          <a:prstGeom prst="roundRect">
            <a:avLst>
              <a:gd name="adj" fmla="val 1751"/>
            </a:avLst>
          </a:prstGeom>
          <a:ln w="14288">
            <a:solidFill>
              <a:srgbClr val="B9C2CC"/>
            </a:solidFill>
            <a:prstDash val="solid"/>
          </a:ln>
        </p:spPr>
      </p:sp>
      <p:sp>
        <p:nvSpPr>
          <p:cNvPr id="34" name="Text 32"/>
          <p:cNvSpPr/>
          <p:nvPr/>
        </p:nvSpPr>
        <p:spPr>
          <a:xfrm>
            <a:off x="9539288" y="5803106"/>
            <a:ext cx="8685848" cy="314325"/>
          </a:xfrm>
          <a:prstGeom prst="rect">
            <a:avLst/>
          </a:prstGeom>
          <a:noFill/>
          <a:ln/>
        </p:spPr>
        <p:txBody>
          <a:bodyPr wrap="square" lIns="25400" tIns="25400" rIns="25400" bIns="25400" rtlCol="0" anchor="t">
            <a:normAutofit/>
          </a:bodyPr>
          <a:lstStyle/>
          <a:p>
            <a:pPr algn="l" indent="0" marL="0">
              <a:buNone/>
            </a:pPr>
            <a:r>
              <a:rPr lang="en-US" sz="1650" b="1" dirty="0">
                <a:solidFill>
                  <a:srgbClr val="232F3E"/>
                </a:solidFill>
                <a:latin typeface="IBM Plex Sans" pitchFamily="34" charset="0"/>
                <a:ea typeface="IBM Plex Sans" pitchFamily="34" charset="-122"/>
                <a:cs typeface="IBM Plex Sans" pitchFamily="34" charset="-120"/>
              </a:rPr>
              <a:t>What each person can say after the hour</a:t>
            </a:r>
            <a:endParaRPr lang="en-US" sz="1650" dirty="0"/>
          </a:p>
        </p:txBody>
      </p:sp>
      <p:sp>
        <p:nvSpPr>
          <p:cNvPr id="35" name="Text 33"/>
          <p:cNvSpPr/>
          <p:nvPr/>
        </p:nvSpPr>
        <p:spPr>
          <a:xfrm>
            <a:off x="9539288" y="6231731"/>
            <a:ext cx="8133112" cy="304800"/>
          </a:xfrm>
          <a:prstGeom prst="rect">
            <a:avLst/>
          </a:prstGeom>
          <a:noFill/>
          <a:ln/>
        </p:spPr>
        <p:txBody>
          <a:bodyPr wrap="square" lIns="25400" tIns="25400" rIns="25400" bIns="25400" rtlCol="0" anchor="t">
            <a:normAutofit/>
          </a:bodyPr>
          <a:lstStyle/>
          <a:p>
            <a:pPr algn="l" indent="0" marL="0">
              <a:lnSpc>
                <a:spcPct val="121739"/>
              </a:lnSpc>
              <a:buNone/>
            </a:pPr>
            <a:r>
              <a:rPr lang="en-US" sz="1313" dirty="0">
                <a:solidFill>
                  <a:srgbClr val="232F3E"/>
                </a:solidFill>
                <a:latin typeface="IBM Plex Sans" pitchFamily="34" charset="0"/>
                <a:ea typeface="IBM Plex Sans" pitchFamily="34" charset="-122"/>
                <a:cs typeface="IBM Plex Sans" pitchFamily="34" charset="-120"/>
              </a:rPr>
              <a:t>• "My pod owns </a:t>
            </a:r>
            <a:pPr algn="l" indent="0" marL="0">
              <a:lnSpc>
                <a:spcPct val="121739"/>
              </a:lnSpc>
              <a:buNone/>
            </a:pPr>
            <a:r>
              <a:rPr lang="en-US" sz="1313" i="1" dirty="0">
                <a:solidFill>
                  <a:srgbClr val="232F3E"/>
                </a:solidFill>
                <a:latin typeface="IBM Plex Sans" pitchFamily="34" charset="0"/>
                <a:ea typeface="IBM Plex Sans" pitchFamily="34" charset="-122"/>
                <a:cs typeface="IBM Plex Sans" pitchFamily="34" charset="-120"/>
              </a:rPr>
              <a:t>these components </a:t>
            </a:r>
            <a:pPr algn="l" indent="0" marL="0">
              <a:lnSpc>
                <a:spcPct val="121739"/>
              </a:lnSpc>
              <a:buNone/>
            </a:pPr>
            <a:r>
              <a:rPr lang="en-US" sz="1313" dirty="0">
                <a:solidFill>
                  <a:srgbClr val="232F3E"/>
                </a:solidFill>
                <a:latin typeface="IBM Plex Sans" pitchFamily="34" charset="0"/>
                <a:ea typeface="IBM Plex Sans" pitchFamily="34" charset="-122"/>
                <a:cs typeface="IBM Plex Sans" pitchFamily="34" charset="-120"/>
              </a:rPr>
              <a:t>and ships </a:t>
            </a:r>
            <a:pPr algn="l" indent="0" marL="0">
              <a:lnSpc>
                <a:spcPct val="121739"/>
              </a:lnSpc>
              <a:buNone/>
            </a:pPr>
            <a:r>
              <a:rPr lang="en-US" sz="1313" i="1" dirty="0">
                <a:solidFill>
                  <a:srgbClr val="232F3E"/>
                </a:solidFill>
                <a:latin typeface="IBM Plex Sans" pitchFamily="34" charset="0"/>
                <a:ea typeface="IBM Plex Sans" pitchFamily="34" charset="-122"/>
                <a:cs typeface="IBM Plex Sans" pitchFamily="34" charset="-120"/>
              </a:rPr>
              <a:t>this </a:t>
            </a:r>
            <a:pPr algn="l" indent="0" marL="0">
              <a:lnSpc>
                <a:spcPct val="121739"/>
              </a:lnSpc>
              <a:buNone/>
            </a:pPr>
            <a:r>
              <a:rPr lang="en-US" sz="1313" dirty="0">
                <a:solidFill>
                  <a:srgbClr val="232F3E"/>
                </a:solidFill>
                <a:latin typeface="IBM Plex Sans" pitchFamily="34" charset="0"/>
                <a:ea typeface="IBM Plex Sans" pitchFamily="34" charset="-122"/>
                <a:cs typeface="IBM Plex Sans" pitchFamily="34" charset="-120"/>
              </a:rPr>
              <a:t>first."</a:t>
            </a:r>
            <a:endParaRPr lang="en-US" sz="1313" dirty="0"/>
          </a:p>
        </p:txBody>
      </p:sp>
      <p:sp>
        <p:nvSpPr>
          <p:cNvPr id="36" name="Text 34"/>
          <p:cNvSpPr/>
          <p:nvPr/>
        </p:nvSpPr>
        <p:spPr>
          <a:xfrm>
            <a:off x="9539288" y="6631781"/>
            <a:ext cx="8133112" cy="571500"/>
          </a:xfrm>
          <a:prstGeom prst="rect">
            <a:avLst/>
          </a:prstGeom>
          <a:noFill/>
          <a:ln/>
        </p:spPr>
        <p:txBody>
          <a:bodyPr wrap="square" lIns="25400" tIns="25400" rIns="25400" bIns="25400" rtlCol="0" anchor="t">
            <a:normAutofit/>
          </a:bodyPr>
          <a:lstStyle/>
          <a:p>
            <a:pPr algn="l" indent="0" marL="0">
              <a:lnSpc>
                <a:spcPct val="121739"/>
              </a:lnSpc>
              <a:buNone/>
            </a:pPr>
            <a:r>
              <a:rPr lang="en-US" sz="1313" dirty="0">
                <a:solidFill>
                  <a:srgbClr val="232F3E"/>
                </a:solidFill>
                <a:latin typeface="IBM Plex Sans" pitchFamily="34" charset="0"/>
                <a:ea typeface="IBM Plex Sans" pitchFamily="34" charset="-122"/>
                <a:cs typeface="IBM Plex Sans" pitchFamily="34" charset="-120"/>
              </a:rPr>
              <a:t>• "The contracts I provide are </a:t>
            </a:r>
            <a:pPr algn="l" indent="0" marL="0">
              <a:lnSpc>
                <a:spcPct val="121739"/>
              </a:lnSpc>
              <a:buNone/>
            </a:pPr>
            <a:r>
              <a:rPr lang="en-US" sz="1313" i="1" dirty="0">
                <a:solidFill>
                  <a:srgbClr val="232F3E"/>
                </a:solidFill>
                <a:latin typeface="IBM Plex Sans" pitchFamily="34" charset="0"/>
                <a:ea typeface="IBM Plex Sans" pitchFamily="34" charset="-122"/>
                <a:cs typeface="IBM Plex Sans" pitchFamily="34" charset="-120"/>
              </a:rPr>
              <a:t>X</a:t>
            </a:r>
            <a:pPr algn="l" indent="0" marL="0">
              <a:lnSpc>
                <a:spcPct val="121739"/>
              </a:lnSpc>
              <a:buNone/>
            </a:pPr>
            <a:r>
              <a:rPr lang="en-US" sz="1313" dirty="0">
                <a:solidFill>
                  <a:srgbClr val="232F3E"/>
                </a:solidFill>
                <a:latin typeface="IBM Plex Sans" pitchFamily="34" charset="0"/>
                <a:ea typeface="IBM Plex Sans" pitchFamily="34" charset="-122"/>
                <a:cs typeface="IBM Plex Sans" pitchFamily="34" charset="-120"/>
              </a:rPr>
              <a:t>; the ones I consume are </a:t>
            </a:r>
            <a:pPr algn="l" indent="0" marL="0">
              <a:lnSpc>
                <a:spcPct val="121739"/>
              </a:lnSpc>
              <a:buNone/>
            </a:pPr>
            <a:r>
              <a:rPr lang="en-US" sz="1313" i="1" dirty="0">
                <a:solidFill>
                  <a:srgbClr val="232F3E"/>
                </a:solidFill>
                <a:latin typeface="IBM Plex Sans" pitchFamily="34" charset="0"/>
                <a:ea typeface="IBM Plex Sans" pitchFamily="34" charset="-122"/>
                <a:cs typeface="IBM Plex Sans" pitchFamily="34" charset="-120"/>
              </a:rPr>
              <a:t>Y </a:t>
            </a:r>
            <a:pPr algn="l" indent="0" marL="0">
              <a:lnSpc>
                <a:spcPct val="121739"/>
              </a:lnSpc>
              <a:buNone/>
            </a:pPr>
            <a:r>
              <a:rPr lang="en-US" sz="1313" dirty="0">
                <a:solidFill>
                  <a:srgbClr val="232F3E"/>
                </a:solidFill>
                <a:latin typeface="IBM Plex Sans" pitchFamily="34" charset="0"/>
                <a:ea typeface="IBM Plex Sans" pitchFamily="34" charset="-122"/>
                <a:cs typeface="IBM Plex Sans" pitchFamily="34" charset="-120"/>
              </a:rPr>
              <a:t>— and neither changes without a version bump."</a:t>
            </a:r>
            <a:endParaRPr lang="en-US" sz="1313" dirty="0"/>
          </a:p>
        </p:txBody>
      </p:sp>
      <p:sp>
        <p:nvSpPr>
          <p:cNvPr id="37" name="Text 35"/>
          <p:cNvSpPr/>
          <p:nvPr/>
        </p:nvSpPr>
        <p:spPr>
          <a:xfrm>
            <a:off x="9539288" y="7298531"/>
            <a:ext cx="8133112" cy="571500"/>
          </a:xfrm>
          <a:prstGeom prst="rect">
            <a:avLst/>
          </a:prstGeom>
          <a:noFill/>
          <a:ln/>
        </p:spPr>
        <p:txBody>
          <a:bodyPr wrap="square" lIns="25400" tIns="25400" rIns="25400" bIns="25400" rtlCol="0" anchor="t">
            <a:normAutofit/>
          </a:bodyPr>
          <a:lstStyle/>
          <a:p>
            <a:pPr algn="l" indent="0" marL="0">
              <a:lnSpc>
                <a:spcPct val="121739"/>
              </a:lnSpc>
              <a:buNone/>
            </a:pPr>
            <a:r>
              <a:rPr lang="en-US" sz="1313" dirty="0">
                <a:solidFill>
                  <a:srgbClr val="232F3E"/>
                </a:solidFill>
                <a:latin typeface="IBM Plex Sans" pitchFamily="34" charset="0"/>
                <a:ea typeface="IBM Plex Sans" pitchFamily="34" charset="-122"/>
                <a:cs typeface="IBM Plex Sans" pitchFamily="34" charset="-120"/>
              </a:rPr>
              <a:t>• "Confidence comes from agreement between engines; nothing publishes without the gate and a fencing token."</a:t>
            </a:r>
            <a:endParaRPr lang="en-US" sz="1313" dirty="0"/>
          </a:p>
        </p:txBody>
      </p:sp>
      <p:sp>
        <p:nvSpPr>
          <p:cNvPr id="38" name="Text 36"/>
          <p:cNvSpPr/>
          <p:nvPr/>
        </p:nvSpPr>
        <p:spPr>
          <a:xfrm>
            <a:off x="9539288" y="7965281"/>
            <a:ext cx="8133112" cy="304800"/>
          </a:xfrm>
          <a:prstGeom prst="rect">
            <a:avLst/>
          </a:prstGeom>
          <a:noFill/>
          <a:ln/>
        </p:spPr>
        <p:txBody>
          <a:bodyPr wrap="square" lIns="25400" tIns="25400" rIns="25400" bIns="25400" rtlCol="0" anchor="t">
            <a:normAutofit/>
          </a:bodyPr>
          <a:lstStyle/>
          <a:p>
            <a:pPr algn="l" indent="0" marL="0">
              <a:lnSpc>
                <a:spcPct val="121739"/>
              </a:lnSpc>
              <a:buNone/>
            </a:pPr>
            <a:r>
              <a:rPr lang="en-US" sz="1313" dirty="0">
                <a:solidFill>
                  <a:srgbClr val="232F3E"/>
                </a:solidFill>
                <a:latin typeface="IBM Plex Sans" pitchFamily="34" charset="0"/>
                <a:ea typeface="IBM Plex Sans" pitchFamily="34" charset="-122"/>
                <a:cs typeface="IBM Plex Sans" pitchFamily="34" charset="-120"/>
              </a:rPr>
              <a:t>• "Week 8 is the date my work meets everyone else's."</a:t>
            </a:r>
            <a:endParaRPr lang="en-US" sz="1313" dirty="0"/>
          </a:p>
        </p:txBody>
      </p:sp>
      <p:sp>
        <p:nvSpPr>
          <p:cNvPr id="39" name="Shape 37"/>
          <p:cNvSpPr/>
          <p:nvPr/>
        </p:nvSpPr>
        <p:spPr>
          <a:xfrm>
            <a:off x="9539288" y="8365331"/>
            <a:ext cx="7896225" cy="14288"/>
          </a:xfrm>
          <a:prstGeom prst="rect">
            <a:avLst/>
          </a:prstGeom>
          <a:solidFill>
            <a:srgbClr val="B9C2CC"/>
          </a:solidFill>
          <a:ln/>
        </p:spPr>
      </p:sp>
      <p:sp>
        <p:nvSpPr>
          <p:cNvPr id="40" name="Text 38"/>
          <p:cNvSpPr/>
          <p:nvPr/>
        </p:nvSpPr>
        <p:spPr>
          <a:xfrm>
            <a:off x="9539288" y="8474869"/>
            <a:ext cx="8133112" cy="209550"/>
          </a:xfrm>
          <a:prstGeom prst="rect">
            <a:avLst/>
          </a:prstGeom>
          <a:noFill/>
          <a:ln/>
        </p:spPr>
        <p:txBody>
          <a:bodyPr wrap="square" lIns="25400" tIns="25400" rIns="25400" bIns="25400" rtlCol="0" anchor="t">
            <a:normAutofit/>
          </a:bodyPr>
          <a:lstStyle/>
          <a:p>
            <a:pPr algn="l" indent="0" marL="0">
              <a:buNone/>
            </a:pPr>
            <a:r>
              <a:rPr lang="en-US" sz="1050" dirty="0">
                <a:solidFill>
                  <a:srgbClr val="5F6B7A"/>
                </a:solidFill>
                <a:latin typeface="IBM Plex Mono" pitchFamily="34" charset="0"/>
                <a:ea typeface="IBM Plex Mono" pitchFamily="34" charset="-122"/>
                <a:cs typeface="IBM Plex Mono" pitchFamily="34" charset="-120"/>
              </a:rPr>
              <a:t>if anyone can't say all four, the hour isn't done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2026-08-11T12:31:47Z</dcterms:created>
  <dcterms:modified xsi:type="dcterms:W3CDTF">2026-08-11T12:31:47Z</dcterms:modified>
</cp:coreProperties>
</file>