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mapping per L14 in AWS reference-architecture style: API Gateway and EventBridge intake, three SQS lanes with DLQs, Step Functions orchestration, Fargate/Bedrock/Kinesis engines, S3 Object Lock truth, DynamoDB control tables, fenced publication to versioned Neptune namespaces, version-pinned queries. Resiliency: archive replay, DLQ redrive, CRR, rebuild-from-S3, RPO 15 min / RTO 4 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 walking skeleton: one signed push travels the full trust boundary — intake, classification, orchestration, static analysis, URN resolution, immutable evidence, consolidation, human review, fenced publication, version-pinned query.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svg"/><Relationship Id="rId33" Type="http://schemas.openxmlformats.org/officeDocument/2006/relationships/image" Target="../media/image-1-33.png"/><Relationship Id="rId34" Type="http://schemas.openxmlformats.org/officeDocument/2006/relationships/image" Target="../media/image-1-34.svg"/><Relationship Id="rId35" Type="http://schemas.openxmlformats.org/officeDocument/2006/relationships/image" Target="../media/image-1-35.png"/><Relationship Id="rId36" Type="http://schemas.openxmlformats.org/officeDocument/2006/relationships/image" Target="../media/image-1-36.svg"/><Relationship Id="rId37" Type="http://schemas.openxmlformats.org/officeDocument/2006/relationships/image" Target="../media/image-1-37.png"/><Relationship Id="rId38" Type="http://schemas.openxmlformats.org/officeDocument/2006/relationships/image" Target="../media/image-1-38.svg"/><Relationship Id="rId39" Type="http://schemas.openxmlformats.org/officeDocument/2006/relationships/image" Target="../media/image-1-39.png"/><Relationship Id="rId40" Type="http://schemas.openxmlformats.org/officeDocument/2006/relationships/image" Target="../media/image-1-40.svg"/><Relationship Id="rId41" Type="http://schemas.openxmlformats.org/officeDocument/2006/relationships/image" Target="../media/image-1-41.png"/><Relationship Id="rId42" Type="http://schemas.openxmlformats.org/officeDocument/2006/relationships/image" Target="../media/image-1-42.svg"/><Relationship Id="rId43" Type="http://schemas.openxmlformats.org/officeDocument/2006/relationships/slideLayout" Target="../slideLayouts/slideLayout1.xml"/><Relationship Id="rId4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247650"/>
            <a:ext cx="1153229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spc="150" kern="0" dirty="0">
                <a:solidFill>
                  <a:srgbClr val="5F6B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PRODUCTION MAPPING · L14 INFRASTRUCTURE SPEC</a:t>
            </a:r>
            <a:endParaRPr lang="en-US" sz="1350" dirty="0"/>
          </a:p>
        </p:txBody>
      </p:sp>
      <p:sp>
        <p:nvSpPr>
          <p:cNvPr id="4" name="Text 1"/>
          <p:cNvSpPr/>
          <p:nvPr/>
        </p:nvSpPr>
        <p:spPr>
          <a:xfrm>
            <a:off x="381000" y="485775"/>
            <a:ext cx="1153229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deployment architecture — lineage collection platform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23875" y="1428750"/>
            <a:ext cx="157408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External producers</a:t>
            </a:r>
            <a:endParaRPr lang="en-US" sz="1275" dirty="0"/>
          </a:p>
        </p:txBody>
      </p:sp>
      <p:sp>
        <p:nvSpPr>
          <p:cNvPr id="6" name="Shape 3"/>
          <p:cNvSpPr/>
          <p:nvPr/>
        </p:nvSpPr>
        <p:spPr>
          <a:xfrm>
            <a:off x="1238250" y="20002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545B64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2075" y="2124075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17861" y="2581275"/>
            <a:ext cx="57417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GitHub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33450" y="2819400"/>
            <a:ext cx="11430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412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push → events lane pr.updated → interactive</a:t>
            </a:r>
            <a:endParaRPr lang="en-US" sz="975" dirty="0"/>
          </a:p>
        </p:txBody>
      </p:sp>
      <p:sp>
        <p:nvSpPr>
          <p:cNvPr id="10" name="Shape 6"/>
          <p:cNvSpPr/>
          <p:nvPr/>
        </p:nvSpPr>
        <p:spPr>
          <a:xfrm>
            <a:off x="1238250" y="34290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545B64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1600" y="3562350"/>
            <a:ext cx="266700" cy="2667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91369" y="4010025"/>
            <a:ext cx="62716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Jenkins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33450" y="4248150"/>
            <a:ext cx="1143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412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 events (signed) → events lane</a:t>
            </a:r>
            <a:endParaRPr lang="en-US" sz="975" dirty="0"/>
          </a:p>
        </p:txBody>
      </p:sp>
      <p:sp>
        <p:nvSpPr>
          <p:cNvPr id="14" name="Shape 9"/>
          <p:cNvSpPr/>
          <p:nvPr/>
        </p:nvSpPr>
        <p:spPr>
          <a:xfrm>
            <a:off x="1238250" y="485775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545B64"/>
          </a:solidFill>
          <a:ln/>
        </p:spPr>
      </p:sp>
      <p:sp>
        <p:nvSpPr>
          <p:cNvPr id="15" name="Text 10"/>
          <p:cNvSpPr/>
          <p:nvPr/>
        </p:nvSpPr>
        <p:spPr>
          <a:xfrm>
            <a:off x="1200150" y="4857750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TAS</a:t>
            </a:r>
            <a:endParaRPr lang="en-US" sz="1125" dirty="0"/>
          </a:p>
        </p:txBody>
      </p:sp>
      <p:sp>
        <p:nvSpPr>
          <p:cNvPr id="16" name="Text 11"/>
          <p:cNvSpPr/>
          <p:nvPr/>
        </p:nvSpPr>
        <p:spPr>
          <a:xfrm>
            <a:off x="933450" y="5438775"/>
            <a:ext cx="11430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inventory (TAS)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933450" y="6057900"/>
            <a:ext cx="1143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412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who owns which repo/system — deltas → bulk lane</a:t>
            </a:r>
            <a:endParaRPr lang="en-US" sz="975" dirty="0"/>
          </a:p>
        </p:txBody>
      </p:sp>
      <p:sp>
        <p:nvSpPr>
          <p:cNvPr id="18" name="Shape 13"/>
          <p:cNvSpPr/>
          <p:nvPr/>
        </p:nvSpPr>
        <p:spPr>
          <a:xfrm>
            <a:off x="1238250" y="6286500"/>
            <a:ext cx="533400" cy="533400"/>
          </a:xfrm>
          <a:prstGeom prst="roundRect">
            <a:avLst>
              <a:gd name="adj" fmla="val 14286"/>
            </a:avLst>
          </a:prstGeom>
          <a:solidFill>
            <a:srgbClr val="545B6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71600" y="6419850"/>
            <a:ext cx="266700" cy="2667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97769" y="6867525"/>
            <a:ext cx="61436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Catalog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933450" y="7105650"/>
            <a:ext cx="11430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9412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URN authority — hourly snapshot pull (schedule)</a:t>
            </a:r>
            <a:endParaRPr lang="en-US" sz="975" dirty="0"/>
          </a:p>
        </p:txBody>
      </p:sp>
      <p:sp>
        <p:nvSpPr>
          <p:cNvPr id="22" name="Shape 16"/>
          <p:cNvSpPr/>
          <p:nvPr/>
        </p:nvSpPr>
        <p:spPr>
          <a:xfrm>
            <a:off x="2762250" y="1333500"/>
            <a:ext cx="15144750" cy="6667500"/>
          </a:xfrm>
          <a:prstGeom prst="roundRect">
            <a:avLst>
              <a:gd name="adj" fmla="val 571"/>
            </a:avLst>
          </a:prstGeom>
          <a:ln w="19050">
            <a:solidFill>
              <a:srgbClr val="232F3E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2952750" y="1466850"/>
            <a:ext cx="247650" cy="247650"/>
          </a:xfrm>
          <a:prstGeom prst="roundRect">
            <a:avLst>
              <a:gd name="adj" fmla="val 15385"/>
            </a:avLst>
          </a:prstGeom>
          <a:solidFill>
            <a:srgbClr val="232F3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000375" y="1514475"/>
            <a:ext cx="152400" cy="1524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276600" y="1476375"/>
            <a:ext cx="10197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Cloud</a:t>
            </a:r>
            <a:endParaRPr lang="en-US" sz="1425" dirty="0"/>
          </a:p>
        </p:txBody>
      </p:sp>
      <p:sp>
        <p:nvSpPr>
          <p:cNvPr id="26" name="Shape 19"/>
          <p:cNvSpPr/>
          <p:nvPr/>
        </p:nvSpPr>
        <p:spPr>
          <a:xfrm>
            <a:off x="3457575" y="2095500"/>
            <a:ext cx="609600" cy="6096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B0084D">
                  <a:alpha val="100000"/>
                </a:srgbClr>
              </a:gs>
              <a:gs pos="100000">
                <a:srgbClr val="FF4F8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7" name="Text 20"/>
          <p:cNvSpPr/>
          <p:nvPr/>
        </p:nvSpPr>
        <p:spPr>
          <a:xfrm>
            <a:off x="3419475" y="2095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API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009900" y="2752725"/>
            <a:ext cx="15049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Amazon API Gateway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009900" y="3162300"/>
            <a:ext cx="150495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webhook ingress → normalizer λ (verify · dedupe)</a:t>
            </a:r>
            <a:endParaRPr lang="en-US" sz="975" dirty="0"/>
          </a:p>
        </p:txBody>
      </p:sp>
      <p:sp>
        <p:nvSpPr>
          <p:cNvPr id="30" name="Shape 23"/>
          <p:cNvSpPr/>
          <p:nvPr/>
        </p:nvSpPr>
        <p:spPr>
          <a:xfrm>
            <a:off x="3457575" y="4095750"/>
            <a:ext cx="609600" cy="6096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B0084D">
                  <a:alpha val="100000"/>
                </a:srgbClr>
              </a:gs>
              <a:gs pos="100000">
                <a:srgbClr val="FF4F8B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600450" y="4238625"/>
            <a:ext cx="323850" cy="32385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009900" y="4752975"/>
            <a:ext cx="15049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Amazon EventBridge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3009900" y="5162550"/>
            <a:ext cx="1504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rules · dedupe · archive + replay</a:t>
            </a:r>
            <a:endParaRPr lang="en-US" sz="975" dirty="0"/>
          </a:p>
        </p:txBody>
      </p:sp>
      <p:sp>
        <p:nvSpPr>
          <p:cNvPr id="34" name="Shape 26"/>
          <p:cNvSpPr/>
          <p:nvPr/>
        </p:nvSpPr>
        <p:spPr>
          <a:xfrm>
            <a:off x="4905375" y="1809750"/>
            <a:ext cx="1809750" cy="5286375"/>
          </a:xfrm>
          <a:prstGeom prst="roundRect">
            <a:avLst>
              <a:gd name="adj" fmla="val 2105"/>
            </a:avLst>
          </a:prstGeom>
          <a:ln w="19050">
            <a:solidFill>
              <a:srgbClr val="7D8998"/>
            </a:solidFill>
            <a:prstDash val="dash"/>
          </a:ln>
        </p:spPr>
      </p:sp>
      <p:sp>
        <p:nvSpPr>
          <p:cNvPr id="35" name="Text 27"/>
          <p:cNvSpPr/>
          <p:nvPr/>
        </p:nvSpPr>
        <p:spPr>
          <a:xfrm>
            <a:off x="5019675" y="1885950"/>
            <a:ext cx="165735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7D89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SQS priority lanes + DLQs</a:t>
            </a:r>
            <a:endParaRPr lang="en-US" sz="975" dirty="0"/>
          </a:p>
        </p:txBody>
      </p:sp>
      <p:sp>
        <p:nvSpPr>
          <p:cNvPr id="36" name="Shape 28"/>
          <p:cNvSpPr/>
          <p:nvPr/>
        </p:nvSpPr>
        <p:spPr>
          <a:xfrm>
            <a:off x="5543550" y="2190750"/>
            <a:ext cx="533400" cy="53340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B0084D">
                  <a:alpha val="100000"/>
                </a:srgbClr>
              </a:gs>
              <a:gs pos="100000">
                <a:srgbClr val="FF4F8B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676900" y="2324100"/>
            <a:ext cx="266700" cy="2667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5417195" y="2762250"/>
            <a:ext cx="78611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interactive</a:t>
            </a:r>
            <a:endParaRPr lang="en-US" sz="1125" dirty="0"/>
          </a:p>
        </p:txBody>
      </p:sp>
      <p:sp>
        <p:nvSpPr>
          <p:cNvPr id="39" name="Text 30"/>
          <p:cNvSpPr/>
          <p:nvPr/>
        </p:nvSpPr>
        <p:spPr>
          <a:xfrm>
            <a:off x="5057775" y="2981325"/>
            <a:ext cx="1504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pr.updated — never starved</a:t>
            </a:r>
            <a:endParaRPr lang="en-US" sz="975" dirty="0"/>
          </a:p>
        </p:txBody>
      </p:sp>
      <p:sp>
        <p:nvSpPr>
          <p:cNvPr id="40" name="Shape 31"/>
          <p:cNvSpPr/>
          <p:nvPr/>
        </p:nvSpPr>
        <p:spPr>
          <a:xfrm>
            <a:off x="5543550" y="3857625"/>
            <a:ext cx="533400" cy="53340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B0084D">
                  <a:alpha val="100000"/>
                </a:srgbClr>
              </a:gs>
              <a:gs pos="100000">
                <a:srgbClr val="FF4F8B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76900" y="3990975"/>
            <a:ext cx="266700" cy="26670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551736" y="4429125"/>
            <a:ext cx="51688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events</a:t>
            </a:r>
            <a:endParaRPr lang="en-US" sz="1125" dirty="0"/>
          </a:p>
        </p:txBody>
      </p:sp>
      <p:sp>
        <p:nvSpPr>
          <p:cNvPr id="43" name="Text 33"/>
          <p:cNvSpPr/>
          <p:nvPr/>
        </p:nvSpPr>
        <p:spPr>
          <a:xfrm>
            <a:off x="5398443" y="4648200"/>
            <a:ext cx="82361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push · deploy</a:t>
            </a:r>
            <a:endParaRPr lang="en-US" sz="975" dirty="0"/>
          </a:p>
        </p:txBody>
      </p:sp>
      <p:sp>
        <p:nvSpPr>
          <p:cNvPr id="44" name="Shape 34"/>
          <p:cNvSpPr/>
          <p:nvPr/>
        </p:nvSpPr>
        <p:spPr>
          <a:xfrm>
            <a:off x="5543550" y="5476875"/>
            <a:ext cx="533400" cy="533400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B0084D">
                  <a:alpha val="100000"/>
                </a:srgbClr>
              </a:gs>
              <a:gs pos="100000">
                <a:srgbClr val="FF4F8B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676900" y="5610225"/>
            <a:ext cx="266700" cy="26670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5626150" y="6048375"/>
            <a:ext cx="36820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bulk</a:t>
            </a:r>
            <a:endParaRPr lang="en-US" sz="1125" dirty="0"/>
          </a:p>
        </p:txBody>
      </p:sp>
      <p:sp>
        <p:nvSpPr>
          <p:cNvPr id="47" name="Text 36"/>
          <p:cNvSpPr/>
          <p:nvPr/>
        </p:nvSpPr>
        <p:spPr>
          <a:xfrm>
            <a:off x="5057775" y="6267450"/>
            <a:ext cx="1504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baseline · nightly · LLM batch</a:t>
            </a:r>
            <a:endParaRPr lang="en-US" sz="975" dirty="0"/>
          </a:p>
        </p:txBody>
      </p:sp>
      <p:sp>
        <p:nvSpPr>
          <p:cNvPr id="48" name="Shape 37"/>
          <p:cNvSpPr/>
          <p:nvPr/>
        </p:nvSpPr>
        <p:spPr>
          <a:xfrm>
            <a:off x="7839075" y="2000250"/>
            <a:ext cx="609600" cy="6096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B0084D">
                  <a:alpha val="100000"/>
                </a:srgbClr>
              </a:gs>
              <a:gs pos="100000">
                <a:srgbClr val="FF4F8B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991475" y="2152650"/>
            <a:ext cx="304800" cy="304800"/>
          </a:xfrm>
          <a:prstGeom prst="rect">
            <a:avLst/>
          </a:prstGeom>
        </p:spPr>
      </p:pic>
      <p:sp>
        <p:nvSpPr>
          <p:cNvPr id="50" name="Text 38"/>
          <p:cNvSpPr/>
          <p:nvPr/>
        </p:nvSpPr>
        <p:spPr>
          <a:xfrm>
            <a:off x="7359380" y="2657475"/>
            <a:ext cx="156884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Step Functions</a:t>
            </a:r>
            <a:endParaRPr lang="en-US" sz="1200" dirty="0"/>
          </a:p>
        </p:txBody>
      </p:sp>
      <p:sp>
        <p:nvSpPr>
          <p:cNvPr id="51" name="Text 39"/>
          <p:cNvSpPr/>
          <p:nvPr/>
        </p:nvSpPr>
        <p:spPr>
          <a:xfrm>
            <a:off x="7391400" y="2886075"/>
            <a:ext cx="1504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workflows · stage redrive</a:t>
            </a:r>
            <a:endParaRPr lang="en-US" sz="975" dirty="0"/>
          </a:p>
        </p:txBody>
      </p:sp>
      <p:sp>
        <p:nvSpPr>
          <p:cNvPr id="52" name="Shape 40"/>
          <p:cNvSpPr/>
          <p:nvPr/>
        </p:nvSpPr>
        <p:spPr>
          <a:xfrm>
            <a:off x="7258050" y="3790950"/>
            <a:ext cx="1771650" cy="1638300"/>
          </a:xfrm>
          <a:prstGeom prst="roundRect">
            <a:avLst>
              <a:gd name="adj" fmla="val 4651"/>
            </a:avLst>
          </a:prstGeom>
          <a:ln w="14288">
            <a:solidFill>
              <a:srgbClr val="7D8998"/>
            </a:solidFill>
            <a:prstDash val="dash"/>
          </a:ln>
        </p:spPr>
      </p:sp>
      <p:sp>
        <p:nvSpPr>
          <p:cNvPr id="53" name="Text 41"/>
          <p:cNvSpPr/>
          <p:nvPr/>
        </p:nvSpPr>
        <p:spPr>
          <a:xfrm>
            <a:off x="7348538" y="3843338"/>
            <a:ext cx="166687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spc="38" kern="0" dirty="0">
                <a:solidFill>
                  <a:srgbClr val="7D89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OUTSIDE WORKFLOWS</a:t>
            </a:r>
            <a:endParaRPr lang="en-US" sz="825" dirty="0"/>
          </a:p>
        </p:txBody>
      </p:sp>
      <p:sp>
        <p:nvSpPr>
          <p:cNvPr id="54" name="Shape 42"/>
          <p:cNvSpPr/>
          <p:nvPr/>
        </p:nvSpPr>
        <p:spPr>
          <a:xfrm>
            <a:off x="7839075" y="4000500"/>
            <a:ext cx="609600" cy="6096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C8511B">
                  <a:alpha val="100000"/>
                </a:srgbClr>
              </a:gs>
              <a:gs pos="100000">
                <a:srgbClr val="FF9900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55" name="Text 43"/>
          <p:cNvSpPr/>
          <p:nvPr/>
        </p:nvSpPr>
        <p:spPr>
          <a:xfrm>
            <a:off x="7800975" y="4000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λ</a:t>
            </a:r>
            <a:endParaRPr lang="en-US" sz="2100" dirty="0"/>
          </a:p>
        </p:txBody>
      </p:sp>
      <p:sp>
        <p:nvSpPr>
          <p:cNvPr id="56" name="Text 44"/>
          <p:cNvSpPr/>
          <p:nvPr/>
        </p:nvSpPr>
        <p:spPr>
          <a:xfrm>
            <a:off x="7679531" y="4657725"/>
            <a:ext cx="92868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Promotion λ</a:t>
            </a:r>
            <a:endParaRPr lang="en-US" sz="1200" dirty="0"/>
          </a:p>
        </p:txBody>
      </p:sp>
      <p:sp>
        <p:nvSpPr>
          <p:cNvPr id="57" name="Text 45"/>
          <p:cNvSpPr/>
          <p:nvPr/>
        </p:nvSpPr>
        <p:spPr>
          <a:xfrm>
            <a:off x="7391400" y="4886325"/>
            <a:ext cx="1504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deploy-triggered · 3-step pointer swap</a:t>
            </a:r>
            <a:endParaRPr lang="en-US" sz="975" dirty="0"/>
          </a:p>
        </p:txBody>
      </p:sp>
      <p:sp>
        <p:nvSpPr>
          <p:cNvPr id="58" name="Shape 46"/>
          <p:cNvSpPr/>
          <p:nvPr/>
        </p:nvSpPr>
        <p:spPr>
          <a:xfrm>
            <a:off x="7839075" y="5810250"/>
            <a:ext cx="609600" cy="6096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E27AD">
                  <a:alpha val="100000"/>
                </a:srgbClr>
              </a:gs>
              <a:gs pos="100000">
                <a:srgbClr val="527FFF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991475" y="5962650"/>
            <a:ext cx="304800" cy="304800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7376234" y="6467475"/>
            <a:ext cx="153528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Amazon DynamoDB</a:t>
            </a:r>
            <a:endParaRPr lang="en-US" sz="1200" dirty="0"/>
          </a:p>
        </p:txBody>
      </p:sp>
      <p:sp>
        <p:nvSpPr>
          <p:cNvPr id="61" name="Text 48"/>
          <p:cNvSpPr/>
          <p:nvPr/>
        </p:nvSpPr>
        <p:spPr>
          <a:xfrm>
            <a:off x="7391400" y="6696075"/>
            <a:ext cx="1504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dedupe · run ledger · determinants</a:t>
            </a:r>
            <a:endParaRPr lang="en-US" sz="975" dirty="0"/>
          </a:p>
        </p:txBody>
      </p:sp>
      <p:sp>
        <p:nvSpPr>
          <p:cNvPr id="62" name="Shape 49"/>
          <p:cNvSpPr/>
          <p:nvPr/>
        </p:nvSpPr>
        <p:spPr>
          <a:xfrm>
            <a:off x="10172700" y="2000250"/>
            <a:ext cx="609600" cy="6096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C8511B">
                  <a:alpha val="100000"/>
                </a:srgbClr>
              </a:gs>
              <a:gs pos="100000">
                <a:srgbClr val="FF9900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325100" y="2152650"/>
            <a:ext cx="304800" cy="304800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9986367" y="2657475"/>
            <a:ext cx="98226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AWS Fargate</a:t>
            </a:r>
            <a:endParaRPr lang="en-US" sz="1200" dirty="0"/>
          </a:p>
        </p:txBody>
      </p:sp>
      <p:sp>
        <p:nvSpPr>
          <p:cNvPr id="65" name="Text 51"/>
          <p:cNvSpPr/>
          <p:nvPr/>
        </p:nvSpPr>
        <p:spPr>
          <a:xfrm>
            <a:off x="9725025" y="2886075"/>
            <a:ext cx="1504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 engine — deterministic</a:t>
            </a:r>
            <a:endParaRPr lang="en-US" sz="975" dirty="0"/>
          </a:p>
        </p:txBody>
      </p:sp>
      <p:sp>
        <p:nvSpPr>
          <p:cNvPr id="66" name="Shape 52"/>
          <p:cNvSpPr/>
          <p:nvPr/>
        </p:nvSpPr>
        <p:spPr>
          <a:xfrm>
            <a:off x="10172700" y="3905250"/>
            <a:ext cx="609600" cy="6096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055F4E">
                  <a:alpha val="100000"/>
                </a:srgbClr>
              </a:gs>
              <a:gs pos="100000">
                <a:srgbClr val="56C0A7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7" name="Text 53"/>
          <p:cNvSpPr/>
          <p:nvPr/>
        </p:nvSpPr>
        <p:spPr>
          <a:xfrm>
            <a:off x="10134600" y="39052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AI</a:t>
            </a:r>
            <a:endParaRPr lang="en-US" sz="1500" dirty="0"/>
          </a:p>
        </p:txBody>
      </p:sp>
      <p:sp>
        <p:nvSpPr>
          <p:cNvPr id="68" name="Text 54"/>
          <p:cNvSpPr/>
          <p:nvPr/>
        </p:nvSpPr>
        <p:spPr>
          <a:xfrm>
            <a:off x="9969401" y="4562475"/>
            <a:ext cx="10160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Gateway</a:t>
            </a:r>
            <a:endParaRPr lang="en-US" sz="1200" dirty="0"/>
          </a:p>
        </p:txBody>
      </p:sp>
      <p:sp>
        <p:nvSpPr>
          <p:cNvPr id="69" name="Text 55"/>
          <p:cNvSpPr/>
          <p:nvPr/>
        </p:nvSpPr>
        <p:spPr>
          <a:xfrm>
            <a:off x="9725025" y="4791075"/>
            <a:ext cx="1504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via Bedrock — guardrailed, never gates</a:t>
            </a:r>
            <a:endParaRPr lang="en-US" sz="975" dirty="0"/>
          </a:p>
        </p:txBody>
      </p:sp>
      <p:sp>
        <p:nvSpPr>
          <p:cNvPr id="70" name="Shape 56"/>
          <p:cNvSpPr/>
          <p:nvPr/>
        </p:nvSpPr>
        <p:spPr>
          <a:xfrm>
            <a:off x="10172700" y="5810250"/>
            <a:ext cx="609600" cy="6096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4D27A8">
                  <a:alpha val="100000"/>
                </a:srgbClr>
              </a:gs>
              <a:gs pos="100000">
                <a:srgbClr val="A166FF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7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0325100" y="5962650"/>
            <a:ext cx="304800" cy="304800"/>
          </a:xfrm>
          <a:prstGeom prst="rect">
            <a:avLst/>
          </a:prstGeom>
        </p:spPr>
      </p:pic>
      <p:sp>
        <p:nvSpPr>
          <p:cNvPr id="72" name="Text 57"/>
          <p:cNvSpPr/>
          <p:nvPr/>
        </p:nvSpPr>
        <p:spPr>
          <a:xfrm>
            <a:off x="10182225" y="6467475"/>
            <a:ext cx="59055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</a:t>
            </a:r>
            <a:endParaRPr lang="en-US" sz="1200" dirty="0"/>
          </a:p>
        </p:txBody>
      </p:sp>
      <p:sp>
        <p:nvSpPr>
          <p:cNvPr id="73" name="Text 58"/>
          <p:cNvSpPr/>
          <p:nvPr/>
        </p:nvSpPr>
        <p:spPr>
          <a:xfrm>
            <a:off x="9725025" y="6696075"/>
            <a:ext cx="1504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Kinesis → Firehose · prod hard-denied</a:t>
            </a:r>
            <a:endParaRPr lang="en-US" sz="975" dirty="0"/>
          </a:p>
        </p:txBody>
      </p:sp>
      <p:sp>
        <p:nvSpPr>
          <p:cNvPr id="74" name="Shape 59"/>
          <p:cNvSpPr/>
          <p:nvPr/>
        </p:nvSpPr>
        <p:spPr>
          <a:xfrm>
            <a:off x="12506325" y="2762250"/>
            <a:ext cx="609600" cy="6096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1B660F">
                  <a:alpha val="100000"/>
                </a:srgbClr>
              </a:gs>
              <a:gs pos="100000">
                <a:srgbClr val="6CAE3E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75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658725" y="2914650"/>
            <a:ext cx="304800" cy="304800"/>
          </a:xfrm>
          <a:prstGeom prst="rect">
            <a:avLst/>
          </a:prstGeom>
        </p:spPr>
      </p:pic>
      <p:sp>
        <p:nvSpPr>
          <p:cNvPr id="76" name="Text 60"/>
          <p:cNvSpPr/>
          <p:nvPr/>
        </p:nvSpPr>
        <p:spPr>
          <a:xfrm>
            <a:off x="12058650" y="3419475"/>
            <a:ext cx="15049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Amazon S3 · Object Lock</a:t>
            </a:r>
            <a:endParaRPr lang="en-US" sz="1200" dirty="0"/>
          </a:p>
        </p:txBody>
      </p:sp>
      <p:sp>
        <p:nvSpPr>
          <p:cNvPr id="77" name="Text 61"/>
          <p:cNvSpPr/>
          <p:nvPr/>
        </p:nvSpPr>
        <p:spPr>
          <a:xfrm>
            <a:off x="12058650" y="3829050"/>
            <a:ext cx="1504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immutable evidence · manifests · CRR</a:t>
            </a:r>
            <a:endParaRPr lang="en-US" sz="975" dirty="0"/>
          </a:p>
        </p:txBody>
      </p:sp>
      <p:sp>
        <p:nvSpPr>
          <p:cNvPr id="78" name="Shape 62"/>
          <p:cNvSpPr/>
          <p:nvPr/>
        </p:nvSpPr>
        <p:spPr>
          <a:xfrm>
            <a:off x="12506325" y="4953000"/>
            <a:ext cx="609600" cy="6096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E27AD">
                  <a:alpha val="100000"/>
                </a:srgbClr>
              </a:gs>
              <a:gs pos="100000">
                <a:srgbClr val="527FFF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79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2658725" y="5105400"/>
            <a:ext cx="304800" cy="304800"/>
          </a:xfrm>
          <a:prstGeom prst="rect">
            <a:avLst/>
          </a:prstGeom>
        </p:spPr>
      </p:pic>
      <p:sp>
        <p:nvSpPr>
          <p:cNvPr id="80" name="Text 63"/>
          <p:cNvSpPr/>
          <p:nvPr/>
        </p:nvSpPr>
        <p:spPr>
          <a:xfrm>
            <a:off x="12043484" y="5610225"/>
            <a:ext cx="153528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Amazon DynamoDB</a:t>
            </a:r>
            <a:endParaRPr lang="en-US" sz="1200" dirty="0"/>
          </a:p>
        </p:txBody>
      </p:sp>
      <p:sp>
        <p:nvSpPr>
          <p:cNvPr id="81" name="Text 64"/>
          <p:cNvSpPr/>
          <p:nvPr/>
        </p:nvSpPr>
        <p:spPr>
          <a:xfrm>
            <a:off x="12058650" y="5838825"/>
            <a:ext cx="1504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edge ledger · LLM cache · publish lock</a:t>
            </a:r>
            <a:endParaRPr lang="en-US" sz="975" dirty="0"/>
          </a:p>
        </p:txBody>
      </p:sp>
      <p:sp>
        <p:nvSpPr>
          <p:cNvPr id="82" name="Shape 65"/>
          <p:cNvSpPr/>
          <p:nvPr/>
        </p:nvSpPr>
        <p:spPr>
          <a:xfrm>
            <a:off x="15030450" y="2000250"/>
            <a:ext cx="609600" cy="6096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2E27AD">
                  <a:alpha val="100000"/>
                </a:srgbClr>
              </a:gs>
              <a:gs pos="100000">
                <a:srgbClr val="527FFF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83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5182850" y="2152650"/>
            <a:ext cx="304800" cy="304800"/>
          </a:xfrm>
          <a:prstGeom prst="rect">
            <a:avLst/>
          </a:prstGeom>
        </p:spPr>
      </p:pic>
      <p:sp>
        <p:nvSpPr>
          <p:cNvPr id="84" name="Text 66"/>
          <p:cNvSpPr/>
          <p:nvPr/>
        </p:nvSpPr>
        <p:spPr>
          <a:xfrm>
            <a:off x="14666818" y="2657475"/>
            <a:ext cx="1336864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Amazon Neptune</a:t>
            </a:r>
            <a:endParaRPr lang="en-US" sz="1200" dirty="0"/>
          </a:p>
        </p:txBody>
      </p:sp>
      <p:sp>
        <p:nvSpPr>
          <p:cNvPr id="85" name="Text 67"/>
          <p:cNvSpPr/>
          <p:nvPr/>
        </p:nvSpPr>
        <p:spPr>
          <a:xfrm>
            <a:off x="14582775" y="2886075"/>
            <a:ext cx="1504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versioned namespaces · active pointer</a:t>
            </a:r>
            <a:endParaRPr lang="en-US" sz="975" dirty="0"/>
          </a:p>
        </p:txBody>
      </p:sp>
      <p:sp>
        <p:nvSpPr>
          <p:cNvPr id="86" name="Shape 68"/>
          <p:cNvSpPr/>
          <p:nvPr/>
        </p:nvSpPr>
        <p:spPr>
          <a:xfrm>
            <a:off x="15030450" y="3905250"/>
            <a:ext cx="609600" cy="6096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B0084D">
                  <a:alpha val="100000"/>
                </a:srgbClr>
              </a:gs>
              <a:gs pos="100000">
                <a:srgbClr val="FF4F8B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87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5182850" y="4057650"/>
            <a:ext cx="304800" cy="304800"/>
          </a:xfrm>
          <a:prstGeom prst="rect">
            <a:avLst/>
          </a:prstGeom>
        </p:spPr>
      </p:pic>
      <p:sp>
        <p:nvSpPr>
          <p:cNvPr id="88" name="Text 69"/>
          <p:cNvSpPr/>
          <p:nvPr/>
        </p:nvSpPr>
        <p:spPr>
          <a:xfrm>
            <a:off x="14582775" y="4562475"/>
            <a:ext cx="15049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 UI — human gate</a:t>
            </a:r>
            <a:endParaRPr lang="en-US" sz="1200" dirty="0"/>
          </a:p>
        </p:txBody>
      </p:sp>
      <p:sp>
        <p:nvSpPr>
          <p:cNvPr id="89" name="Text 70"/>
          <p:cNvSpPr/>
          <p:nvPr/>
        </p:nvSpPr>
        <p:spPr>
          <a:xfrm>
            <a:off x="14582775" y="4972050"/>
            <a:ext cx="1504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SPA: approve · reject · correct — before publish</a:t>
            </a:r>
            <a:endParaRPr lang="en-US" sz="975" dirty="0"/>
          </a:p>
        </p:txBody>
      </p:sp>
      <p:sp>
        <p:nvSpPr>
          <p:cNvPr id="90" name="Shape 71"/>
          <p:cNvSpPr/>
          <p:nvPr/>
        </p:nvSpPr>
        <p:spPr>
          <a:xfrm>
            <a:off x="15030450" y="5810250"/>
            <a:ext cx="609600" cy="609600"/>
          </a:xfrm>
          <a:prstGeom prst="roundRect">
            <a:avLst>
              <a:gd name="adj" fmla="val 12500"/>
            </a:avLst>
          </a:prstGeom>
          <a:gradFill rotWithShape="1">
            <a:gsLst>
              <a:gs pos="0">
                <a:srgbClr val="B0084D">
                  <a:alpha val="100000"/>
                </a:srgbClr>
              </a:gs>
              <a:gs pos="100000">
                <a:srgbClr val="FF4F8B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91" name="Text 72"/>
          <p:cNvSpPr/>
          <p:nvPr/>
        </p:nvSpPr>
        <p:spPr>
          <a:xfrm>
            <a:off x="14992350" y="58102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API</a:t>
            </a:r>
            <a:endParaRPr lang="en-US" sz="1200" dirty="0"/>
          </a:p>
        </p:txBody>
      </p:sp>
      <p:sp>
        <p:nvSpPr>
          <p:cNvPr id="92" name="Text 73"/>
          <p:cNvSpPr/>
          <p:nvPr/>
        </p:nvSpPr>
        <p:spPr>
          <a:xfrm>
            <a:off x="14582775" y="6467475"/>
            <a:ext cx="15049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Amazon API Gateway</a:t>
            </a:r>
            <a:endParaRPr lang="en-US" sz="1200" dirty="0"/>
          </a:p>
        </p:txBody>
      </p:sp>
      <p:sp>
        <p:nvSpPr>
          <p:cNvPr id="93" name="Text 74"/>
          <p:cNvSpPr/>
          <p:nvPr/>
        </p:nvSpPr>
        <p:spPr>
          <a:xfrm>
            <a:off x="14582775" y="6877050"/>
            <a:ext cx="15049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588"/>
              </a:lnSpc>
              <a:buNone/>
            </a:pPr>
            <a:r>
              <a:rPr lang="en-US" sz="975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lineage · impact APIs · review SPA</a:t>
            </a:r>
            <a:endParaRPr lang="en-US" sz="975" dirty="0"/>
          </a:p>
        </p:txBody>
      </p:sp>
      <p:sp>
        <p:nvSpPr>
          <p:cNvPr id="94" name="Shape 75"/>
          <p:cNvSpPr/>
          <p:nvPr/>
        </p:nvSpPr>
        <p:spPr>
          <a:xfrm>
            <a:off x="3048000" y="7162800"/>
            <a:ext cx="14573250" cy="685800"/>
          </a:xfrm>
          <a:prstGeom prst="roundRect">
            <a:avLst>
              <a:gd name="adj" fmla="val 5556"/>
            </a:avLst>
          </a:prstGeom>
          <a:ln w="19050">
            <a:solidFill>
              <a:srgbClr val="BD0816"/>
            </a:solidFill>
            <a:prstDash val="dash"/>
          </a:ln>
        </p:spPr>
      </p:sp>
      <p:sp>
        <p:nvSpPr>
          <p:cNvPr id="95" name="Text 76"/>
          <p:cNvSpPr/>
          <p:nvPr/>
        </p:nvSpPr>
        <p:spPr>
          <a:xfrm>
            <a:off x="3238500" y="7315200"/>
            <a:ext cx="179635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D08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Security &amp; operations (L12)</a:t>
            </a:r>
            <a:endParaRPr lang="en-US" sz="1200" dirty="0"/>
          </a:p>
        </p:txBody>
      </p:sp>
      <p:sp>
        <p:nvSpPr>
          <p:cNvPr id="96" name="Shape 77"/>
          <p:cNvSpPr/>
          <p:nvPr/>
        </p:nvSpPr>
        <p:spPr>
          <a:xfrm>
            <a:off x="5168205" y="7334250"/>
            <a:ext cx="342900" cy="342900"/>
          </a:xfrm>
          <a:prstGeom prst="roundRect">
            <a:avLst>
              <a:gd name="adj" fmla="val 19444"/>
            </a:avLst>
          </a:prstGeom>
          <a:gradFill rotWithShape="1">
            <a:gsLst>
              <a:gs pos="0">
                <a:srgbClr val="BD0816">
                  <a:alpha val="100000"/>
                </a:srgbClr>
              </a:gs>
              <a:gs pos="100000">
                <a:srgbClr val="FF5252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97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244405" y="7410450"/>
            <a:ext cx="190500" cy="190500"/>
          </a:xfrm>
          <a:prstGeom prst="rect">
            <a:avLst/>
          </a:prstGeom>
        </p:spPr>
      </p:pic>
      <p:sp>
        <p:nvSpPr>
          <p:cNvPr id="98" name="Text 78"/>
          <p:cNvSpPr/>
          <p:nvPr/>
        </p:nvSpPr>
        <p:spPr>
          <a:xfrm>
            <a:off x="5577780" y="7415213"/>
            <a:ext cx="349448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IAM</a:t>
            </a:r>
            <a:endParaRPr lang="en-US" sz="1125" dirty="0"/>
          </a:p>
        </p:txBody>
      </p:sp>
      <p:sp>
        <p:nvSpPr>
          <p:cNvPr id="99" name="Shape 79"/>
          <p:cNvSpPr/>
          <p:nvPr/>
        </p:nvSpPr>
        <p:spPr>
          <a:xfrm>
            <a:off x="6060579" y="7334250"/>
            <a:ext cx="342900" cy="342900"/>
          </a:xfrm>
          <a:prstGeom prst="roundRect">
            <a:avLst>
              <a:gd name="adj" fmla="val 19444"/>
            </a:avLst>
          </a:prstGeom>
          <a:gradFill rotWithShape="1">
            <a:gsLst>
              <a:gs pos="0">
                <a:srgbClr val="BD0816">
                  <a:alpha val="100000"/>
                </a:srgbClr>
              </a:gs>
              <a:gs pos="100000">
                <a:srgbClr val="FF5252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100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6136779" y="7410450"/>
            <a:ext cx="190500" cy="190500"/>
          </a:xfrm>
          <a:prstGeom prst="rect">
            <a:avLst/>
          </a:prstGeom>
        </p:spPr>
      </p:pic>
      <p:sp>
        <p:nvSpPr>
          <p:cNvPr id="101" name="Text 80"/>
          <p:cNvSpPr/>
          <p:nvPr/>
        </p:nvSpPr>
        <p:spPr>
          <a:xfrm>
            <a:off x="6470154" y="7415213"/>
            <a:ext cx="37713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KMS</a:t>
            </a:r>
            <a:endParaRPr lang="en-US" sz="1125" dirty="0"/>
          </a:p>
        </p:txBody>
      </p:sp>
      <p:sp>
        <p:nvSpPr>
          <p:cNvPr id="102" name="Shape 81"/>
          <p:cNvSpPr/>
          <p:nvPr/>
        </p:nvSpPr>
        <p:spPr>
          <a:xfrm>
            <a:off x="6980634" y="7334250"/>
            <a:ext cx="342900" cy="342900"/>
          </a:xfrm>
          <a:prstGeom prst="roundRect">
            <a:avLst>
              <a:gd name="adj" fmla="val 19444"/>
            </a:avLst>
          </a:prstGeom>
          <a:gradFill rotWithShape="1">
            <a:gsLst>
              <a:gs pos="0">
                <a:srgbClr val="B0084D">
                  <a:alpha val="100000"/>
                </a:srgbClr>
              </a:gs>
              <a:gs pos="100000">
                <a:srgbClr val="FF4F8B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103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7056834" y="7410450"/>
            <a:ext cx="190500" cy="190500"/>
          </a:xfrm>
          <a:prstGeom prst="rect">
            <a:avLst/>
          </a:prstGeom>
        </p:spPr>
      </p:pic>
      <p:sp>
        <p:nvSpPr>
          <p:cNvPr id="104" name="Text 82"/>
          <p:cNvSpPr/>
          <p:nvPr/>
        </p:nvSpPr>
        <p:spPr>
          <a:xfrm>
            <a:off x="7390209" y="7415213"/>
            <a:ext cx="752326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CloudTrail</a:t>
            </a:r>
            <a:endParaRPr lang="en-US" sz="1125" dirty="0"/>
          </a:p>
        </p:txBody>
      </p:sp>
      <p:sp>
        <p:nvSpPr>
          <p:cNvPr id="105" name="Shape 83"/>
          <p:cNvSpPr/>
          <p:nvPr/>
        </p:nvSpPr>
        <p:spPr>
          <a:xfrm>
            <a:off x="8275886" y="7334250"/>
            <a:ext cx="342900" cy="342900"/>
          </a:xfrm>
          <a:prstGeom prst="roundRect">
            <a:avLst>
              <a:gd name="adj" fmla="val 19444"/>
            </a:avLst>
          </a:prstGeom>
          <a:gradFill rotWithShape="1">
            <a:gsLst>
              <a:gs pos="0">
                <a:srgbClr val="B0084D">
                  <a:alpha val="100000"/>
                </a:srgbClr>
              </a:gs>
              <a:gs pos="100000">
                <a:srgbClr val="FF4F8B">
                  <a:alpha val="100000"/>
                </a:srgbClr>
              </a:gs>
            </a:gsLst>
            <a:lin ang="2700000" scaled="0"/>
          </a:gradFill>
          <a:ln/>
        </p:spPr>
      </p:sp>
      <p:pic>
        <p:nvPicPr>
          <p:cNvPr id="106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352086" y="7410450"/>
            <a:ext cx="190500" cy="190500"/>
          </a:xfrm>
          <a:prstGeom prst="rect">
            <a:avLst/>
          </a:prstGeom>
        </p:spPr>
      </p:pic>
      <p:sp>
        <p:nvSpPr>
          <p:cNvPr id="107" name="Text 84"/>
          <p:cNvSpPr/>
          <p:nvPr/>
        </p:nvSpPr>
        <p:spPr>
          <a:xfrm>
            <a:off x="8685461" y="7415213"/>
            <a:ext cx="88150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CloudWatch</a:t>
            </a:r>
            <a:endParaRPr lang="en-US" sz="1125" dirty="0"/>
          </a:p>
        </p:txBody>
      </p:sp>
      <p:sp>
        <p:nvSpPr>
          <p:cNvPr id="108" name="Text 85"/>
          <p:cNvSpPr/>
          <p:nvPr/>
        </p:nvSpPr>
        <p:spPr>
          <a:xfrm>
            <a:off x="9700320" y="7334250"/>
            <a:ext cx="796234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least-privilege per stage · production hard-deny ×2 (IAM + validator) · every pointer swap CloudTrail-audited · correlation contract on every artifact</a:t>
            </a:r>
            <a:endParaRPr lang="en-US" sz="1050" dirty="0"/>
          </a:p>
        </p:txBody>
      </p:sp>
      <p:sp>
        <p:nvSpPr>
          <p:cNvPr id="109" name="Shape 86"/>
          <p:cNvSpPr/>
          <p:nvPr/>
        </p:nvSpPr>
        <p:spPr>
          <a:xfrm>
            <a:off x="9525000" y="3467100"/>
            <a:ext cx="1674614" cy="1619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Text 87"/>
          <p:cNvSpPr/>
          <p:nvPr/>
        </p:nvSpPr>
        <p:spPr>
          <a:xfrm>
            <a:off x="9582150" y="3467100"/>
            <a:ext cx="1727775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7D899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pointer swap (fenced)</a:t>
            </a:r>
            <a:endParaRPr lang="en-US" sz="975" dirty="0"/>
          </a:p>
        </p:txBody>
      </p:sp>
      <p:sp>
        <p:nvSpPr>
          <p:cNvPr id="111" name="Shape 88"/>
          <p:cNvSpPr/>
          <p:nvPr/>
        </p:nvSpPr>
        <p:spPr>
          <a:xfrm>
            <a:off x="2152650" y="2009775"/>
            <a:ext cx="266700" cy="2667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12" name="Text 89"/>
          <p:cNvSpPr/>
          <p:nvPr/>
        </p:nvSpPr>
        <p:spPr>
          <a:xfrm>
            <a:off x="2114550" y="20097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200" dirty="0"/>
          </a:p>
        </p:txBody>
      </p:sp>
      <p:sp>
        <p:nvSpPr>
          <p:cNvPr id="113" name="Shape 90"/>
          <p:cNvSpPr/>
          <p:nvPr/>
        </p:nvSpPr>
        <p:spPr>
          <a:xfrm>
            <a:off x="4267200" y="4095750"/>
            <a:ext cx="266700" cy="2667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14" name="Text 91"/>
          <p:cNvSpPr/>
          <p:nvPr/>
        </p:nvSpPr>
        <p:spPr>
          <a:xfrm>
            <a:off x="4229100" y="40957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  <p:sp>
        <p:nvSpPr>
          <p:cNvPr id="115" name="Shape 92"/>
          <p:cNvSpPr/>
          <p:nvPr/>
        </p:nvSpPr>
        <p:spPr>
          <a:xfrm>
            <a:off x="6962775" y="3009900"/>
            <a:ext cx="266700" cy="2667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16" name="Text 93"/>
          <p:cNvSpPr/>
          <p:nvPr/>
        </p:nvSpPr>
        <p:spPr>
          <a:xfrm>
            <a:off x="6924675" y="30099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  <p:sp>
        <p:nvSpPr>
          <p:cNvPr id="117" name="Shape 94"/>
          <p:cNvSpPr/>
          <p:nvPr/>
        </p:nvSpPr>
        <p:spPr>
          <a:xfrm>
            <a:off x="8820150" y="2581275"/>
            <a:ext cx="266700" cy="2667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18" name="Text 95"/>
          <p:cNvSpPr/>
          <p:nvPr/>
        </p:nvSpPr>
        <p:spPr>
          <a:xfrm>
            <a:off x="8782050" y="2581275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  <p:sp>
        <p:nvSpPr>
          <p:cNvPr id="119" name="Shape 96"/>
          <p:cNvSpPr/>
          <p:nvPr/>
        </p:nvSpPr>
        <p:spPr>
          <a:xfrm>
            <a:off x="11296650" y="2514600"/>
            <a:ext cx="266700" cy="2667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20" name="Text 97"/>
          <p:cNvSpPr/>
          <p:nvPr/>
        </p:nvSpPr>
        <p:spPr>
          <a:xfrm>
            <a:off x="11258550" y="25146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  <p:sp>
        <p:nvSpPr>
          <p:cNvPr id="121" name="Shape 98"/>
          <p:cNvSpPr/>
          <p:nvPr/>
        </p:nvSpPr>
        <p:spPr>
          <a:xfrm>
            <a:off x="12344400" y="4152900"/>
            <a:ext cx="266700" cy="2667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22" name="Text 99"/>
          <p:cNvSpPr/>
          <p:nvPr/>
        </p:nvSpPr>
        <p:spPr>
          <a:xfrm>
            <a:off x="12306300" y="41529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  <p:sp>
        <p:nvSpPr>
          <p:cNvPr id="123" name="Shape 100"/>
          <p:cNvSpPr/>
          <p:nvPr/>
        </p:nvSpPr>
        <p:spPr>
          <a:xfrm>
            <a:off x="13582650" y="3581400"/>
            <a:ext cx="266700" cy="2667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24" name="Text 101"/>
          <p:cNvSpPr/>
          <p:nvPr/>
        </p:nvSpPr>
        <p:spPr>
          <a:xfrm>
            <a:off x="13544550" y="358140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  <p:sp>
        <p:nvSpPr>
          <p:cNvPr id="125" name="Shape 102"/>
          <p:cNvSpPr/>
          <p:nvPr/>
        </p:nvSpPr>
        <p:spPr>
          <a:xfrm>
            <a:off x="16535400" y="4057650"/>
            <a:ext cx="266700" cy="2667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26" name="Text 103"/>
          <p:cNvSpPr/>
          <p:nvPr/>
        </p:nvSpPr>
        <p:spPr>
          <a:xfrm>
            <a:off x="16497300" y="4057650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  <p:sp>
        <p:nvSpPr>
          <p:cNvPr id="127" name="Shape 104"/>
          <p:cNvSpPr/>
          <p:nvPr/>
        </p:nvSpPr>
        <p:spPr>
          <a:xfrm>
            <a:off x="381000" y="8248650"/>
            <a:ext cx="228600" cy="2286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28" name="Text 105"/>
          <p:cNvSpPr/>
          <p:nvPr/>
        </p:nvSpPr>
        <p:spPr>
          <a:xfrm>
            <a:off x="342900" y="8248650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1050" dirty="0"/>
          </a:p>
        </p:txBody>
      </p:sp>
      <p:sp>
        <p:nvSpPr>
          <p:cNvPr id="129" name="Text 106"/>
          <p:cNvSpPr/>
          <p:nvPr/>
        </p:nvSpPr>
        <p:spPr>
          <a:xfrm>
            <a:off x="695325" y="8248650"/>
            <a:ext cx="402731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1125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Signed intake: signature verify per producer; dedupe by eventId (DynamoDB, TTL 14d); EventBridge archive makes replay safe.</a:t>
            </a:r>
            <a:endParaRPr lang="en-US" sz="1125" dirty="0"/>
          </a:p>
        </p:txBody>
      </p:sp>
      <p:sp>
        <p:nvSpPr>
          <p:cNvPr id="130" name="Shape 107"/>
          <p:cNvSpPr/>
          <p:nvPr/>
        </p:nvSpPr>
        <p:spPr>
          <a:xfrm>
            <a:off x="4814888" y="8248650"/>
            <a:ext cx="228600" cy="2286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31" name="Text 108"/>
          <p:cNvSpPr/>
          <p:nvPr/>
        </p:nvSpPr>
        <p:spPr>
          <a:xfrm>
            <a:off x="4776788" y="8248650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050" dirty="0"/>
          </a:p>
        </p:txBody>
      </p:sp>
      <p:sp>
        <p:nvSpPr>
          <p:cNvPr id="132" name="Text 109"/>
          <p:cNvSpPr/>
          <p:nvPr/>
        </p:nvSpPr>
        <p:spPr>
          <a:xfrm>
            <a:off x="5129213" y="8248650"/>
            <a:ext cx="402731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1125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multi-AZ SQS lanes + DLQs with redrive runbooks; 10,000-event burst absorbed with zero loss; interactive lane never starved.</a:t>
            </a:r>
            <a:endParaRPr lang="en-US" sz="1125" dirty="0"/>
          </a:p>
        </p:txBody>
      </p:sp>
      <p:sp>
        <p:nvSpPr>
          <p:cNvPr id="133" name="Shape 110"/>
          <p:cNvSpPr/>
          <p:nvPr/>
        </p:nvSpPr>
        <p:spPr>
          <a:xfrm>
            <a:off x="9248775" y="8248650"/>
            <a:ext cx="228600" cy="2286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34" name="Text 111"/>
          <p:cNvSpPr/>
          <p:nvPr/>
        </p:nvSpPr>
        <p:spPr>
          <a:xfrm>
            <a:off x="9210675" y="8248650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050" dirty="0"/>
          </a:p>
        </p:txBody>
      </p:sp>
      <p:sp>
        <p:nvSpPr>
          <p:cNvPr id="135" name="Text 112"/>
          <p:cNvSpPr/>
          <p:nvPr/>
        </p:nvSpPr>
        <p:spPr>
          <a:xfrm>
            <a:off x="9563100" y="8248650"/>
            <a:ext cx="402731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1125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Functions runs 4 workflows; run ledger + determinants in DynamoDB; failed runs redrive from the failed stage, idempotently.</a:t>
            </a:r>
            <a:endParaRPr lang="en-US" sz="1125" dirty="0"/>
          </a:p>
        </p:txBody>
      </p:sp>
      <p:sp>
        <p:nvSpPr>
          <p:cNvPr id="136" name="Shape 113"/>
          <p:cNvSpPr/>
          <p:nvPr/>
        </p:nvSpPr>
        <p:spPr>
          <a:xfrm>
            <a:off x="13682663" y="8248650"/>
            <a:ext cx="228600" cy="2286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37" name="Text 114"/>
          <p:cNvSpPr/>
          <p:nvPr/>
        </p:nvSpPr>
        <p:spPr>
          <a:xfrm>
            <a:off x="13644563" y="8248650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050" dirty="0"/>
          </a:p>
        </p:txBody>
      </p:sp>
      <p:sp>
        <p:nvSpPr>
          <p:cNvPr id="138" name="Text 115"/>
          <p:cNvSpPr/>
          <p:nvPr/>
        </p:nvSpPr>
        <p:spPr>
          <a:xfrm>
            <a:off x="13996988" y="8248650"/>
            <a:ext cx="402731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1125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engines: Fargate SCA (deterministic), Bedrock LLM (guardrail chain, never gates a PR), Kinesis→Firehose runtime (metadata only).</a:t>
            </a:r>
            <a:endParaRPr lang="en-US" sz="1125" dirty="0"/>
          </a:p>
        </p:txBody>
      </p:sp>
      <p:sp>
        <p:nvSpPr>
          <p:cNvPr id="139" name="Shape 116"/>
          <p:cNvSpPr/>
          <p:nvPr/>
        </p:nvSpPr>
        <p:spPr>
          <a:xfrm>
            <a:off x="381000" y="8982075"/>
            <a:ext cx="228600" cy="2286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40" name="Text 117"/>
          <p:cNvSpPr/>
          <p:nvPr/>
        </p:nvSpPr>
        <p:spPr>
          <a:xfrm>
            <a:off x="342900" y="8982075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050" dirty="0"/>
          </a:p>
        </p:txBody>
      </p:sp>
      <p:sp>
        <p:nvSpPr>
          <p:cNvPr id="141" name="Text 118"/>
          <p:cNvSpPr/>
          <p:nvPr/>
        </p:nvSpPr>
        <p:spPr>
          <a:xfrm>
            <a:off x="695325" y="8982075"/>
            <a:ext cx="402731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1125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S3 Object Lock truth layer: checksummed, write-once; cross-Region replication; RPO 15 min / RTO 4 h for truth classes.</a:t>
            </a:r>
            <a:endParaRPr lang="en-US" sz="1125" dirty="0"/>
          </a:p>
        </p:txBody>
      </p:sp>
      <p:sp>
        <p:nvSpPr>
          <p:cNvPr id="142" name="Shape 119"/>
          <p:cNvSpPr/>
          <p:nvPr/>
        </p:nvSpPr>
        <p:spPr>
          <a:xfrm>
            <a:off x="4814888" y="8982075"/>
            <a:ext cx="228600" cy="2286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43" name="Text 120"/>
          <p:cNvSpPr/>
          <p:nvPr/>
        </p:nvSpPr>
        <p:spPr>
          <a:xfrm>
            <a:off x="4776788" y="8982075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050" dirty="0"/>
          </a:p>
        </p:txBody>
      </p:sp>
      <p:sp>
        <p:nvSpPr>
          <p:cNvPr id="144" name="Text 121"/>
          <p:cNvSpPr/>
          <p:nvPr/>
        </p:nvSpPr>
        <p:spPr>
          <a:xfrm>
            <a:off x="5129213" y="8982075"/>
            <a:ext cx="402731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1125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DynamoDB edge ledger: idempotent URN merge, confidence bands; ledger and projections rebuild from S3 alone (quarterly drill).</a:t>
            </a:r>
            <a:endParaRPr lang="en-US" sz="1125" dirty="0"/>
          </a:p>
        </p:txBody>
      </p:sp>
      <p:sp>
        <p:nvSpPr>
          <p:cNvPr id="145" name="Shape 122"/>
          <p:cNvSpPr/>
          <p:nvPr/>
        </p:nvSpPr>
        <p:spPr>
          <a:xfrm>
            <a:off x="9248775" y="8982075"/>
            <a:ext cx="228600" cy="2286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46" name="Text 123"/>
          <p:cNvSpPr/>
          <p:nvPr/>
        </p:nvSpPr>
        <p:spPr>
          <a:xfrm>
            <a:off x="9210675" y="8982075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050" dirty="0"/>
          </a:p>
        </p:txBody>
      </p:sp>
      <p:sp>
        <p:nvSpPr>
          <p:cNvPr id="147" name="Text 124"/>
          <p:cNvSpPr/>
          <p:nvPr/>
        </p:nvSpPr>
        <p:spPr>
          <a:xfrm>
            <a:off x="9563100" y="8982075"/>
            <a:ext cx="402731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1125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gate: reviewers verify proposals in the SPA (approve / reject / correct, audited) → fenced publication: monotonic token; stage → verify → atomic pointer swap.</a:t>
            </a:r>
            <a:endParaRPr lang="en-US" sz="1125" dirty="0"/>
          </a:p>
        </p:txBody>
      </p:sp>
      <p:sp>
        <p:nvSpPr>
          <p:cNvPr id="148" name="Shape 125"/>
          <p:cNvSpPr/>
          <p:nvPr/>
        </p:nvSpPr>
        <p:spPr>
          <a:xfrm>
            <a:off x="13682663" y="8982075"/>
            <a:ext cx="228600" cy="2286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49" name="Text 126"/>
          <p:cNvSpPr/>
          <p:nvPr/>
        </p:nvSpPr>
        <p:spPr>
          <a:xfrm>
            <a:off x="13644563" y="8982075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050" dirty="0"/>
          </a:p>
        </p:txBody>
      </p:sp>
      <p:sp>
        <p:nvSpPr>
          <p:cNvPr id="150" name="Text 127"/>
          <p:cNvSpPr/>
          <p:nvPr/>
        </p:nvSpPr>
        <p:spPr>
          <a:xfrm>
            <a:off x="13996988" y="8982075"/>
            <a:ext cx="4027313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526"/>
              </a:lnSpc>
              <a:buNone/>
            </a:pPr>
            <a:r>
              <a:rPr lang="en-US" sz="1125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Version-pinned queries via the active pointer; bounded traversal ≤ 2 s p95; OpenSearch projection (P1) exposes its lag watermark.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23850"/>
            <a:ext cx="11079793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150" kern="0" dirty="0">
                <a:solidFill>
                  <a:srgbClr val="C851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M1 WALKING SKELETON · PUSH → PUBLISH → QUERY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571500" y="600075"/>
            <a:ext cx="11079793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Process flow — signed push to version-pinned query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476250" y="1428750"/>
            <a:ext cx="32385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32F3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66750" y="1743075"/>
            <a:ext cx="319832" cy="32385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7" name="Text 4"/>
          <p:cNvSpPr/>
          <p:nvPr/>
        </p:nvSpPr>
        <p:spPr>
          <a:xfrm>
            <a:off x="628650" y="1743075"/>
            <a:ext cx="396032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1081832" y="1724025"/>
            <a:ext cx="357336" cy="361950"/>
          </a:xfrm>
          <a:prstGeom prst="roundRect">
            <a:avLst>
              <a:gd name="adj" fmla="val 23990"/>
            </a:avLst>
          </a:prstGeom>
          <a:solidFill>
            <a:srgbClr val="E7157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5650" y="1800225"/>
            <a:ext cx="209550" cy="2095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34418" y="1600200"/>
            <a:ext cx="206603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Signed push intake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666750" y="2286000"/>
            <a:ext cx="29432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Verify signature · record delivery ID · build canonical envelope · route to events lane.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66750" y="3609975"/>
            <a:ext cx="2857500" cy="9525"/>
          </a:xfrm>
          <a:prstGeom prst="rect">
            <a:avLst/>
          </a:prstGeom>
          <a:solidFill>
            <a:srgbClr val="B9C2CC"/>
          </a:solidFill>
          <a:ln/>
        </p:spPr>
      </p:sp>
      <p:sp>
        <p:nvSpPr>
          <p:cNvPr id="13" name="Text 9"/>
          <p:cNvSpPr/>
          <p:nvPr/>
        </p:nvSpPr>
        <p:spPr>
          <a:xfrm>
            <a:off x="666750" y="3695700"/>
            <a:ext cx="294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08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replay → DUPLICATE · no second run</a:t>
            </a:r>
            <a:endParaRPr lang="en-US" sz="1275" dirty="0"/>
          </a:p>
        </p:txBody>
      </p:sp>
      <p:sp>
        <p:nvSpPr>
          <p:cNvPr id="14" name="Shape 10"/>
          <p:cNvSpPr/>
          <p:nvPr/>
        </p:nvSpPr>
        <p:spPr>
          <a:xfrm>
            <a:off x="4000500" y="1428750"/>
            <a:ext cx="32385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32F3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191000" y="1619250"/>
            <a:ext cx="323850" cy="32385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6" name="Text 12"/>
          <p:cNvSpPr/>
          <p:nvPr/>
        </p:nvSpPr>
        <p:spPr>
          <a:xfrm>
            <a:off x="4152900" y="161925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425" dirty="0"/>
          </a:p>
        </p:txBody>
      </p:sp>
      <p:sp>
        <p:nvSpPr>
          <p:cNvPr id="17" name="Shape 13"/>
          <p:cNvSpPr/>
          <p:nvPr/>
        </p:nvSpPr>
        <p:spPr>
          <a:xfrm>
            <a:off x="4610100" y="160020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8C4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86300" y="1676400"/>
            <a:ext cx="209550" cy="2095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067300" y="1628775"/>
            <a:ext cx="157211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Classification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4191000" y="2038350"/>
            <a:ext cx="29432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 evidence in 7-level precedence order → seeded repo resolves to </a:t>
            </a:r>
            <a:pPr algn="l"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232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DATA_PIPELINE</a:t>
            </a:r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4191000" y="3609975"/>
            <a:ext cx="2857500" cy="9525"/>
          </a:xfrm>
          <a:prstGeom prst="rect">
            <a:avLst/>
          </a:prstGeom>
          <a:solidFill>
            <a:srgbClr val="B9C2CC"/>
          </a:solidFill>
          <a:ln/>
        </p:spPr>
      </p:sp>
      <p:sp>
        <p:nvSpPr>
          <p:cNvPr id="22" name="Text 17"/>
          <p:cNvSpPr/>
          <p:nvPr/>
        </p:nvSpPr>
        <p:spPr>
          <a:xfrm>
            <a:off x="4191000" y="3695700"/>
            <a:ext cx="294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08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conflict → UNKNOWN · blocks analysis</a:t>
            </a:r>
            <a:endParaRPr lang="en-US" sz="1275" dirty="0"/>
          </a:p>
        </p:txBody>
      </p:sp>
      <p:sp>
        <p:nvSpPr>
          <p:cNvPr id="23" name="Shape 18"/>
          <p:cNvSpPr/>
          <p:nvPr/>
        </p:nvSpPr>
        <p:spPr>
          <a:xfrm>
            <a:off x="7524750" y="1428750"/>
            <a:ext cx="32385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32F3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715250" y="1743075"/>
            <a:ext cx="283815" cy="32385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5" name="Text 20"/>
          <p:cNvSpPr/>
          <p:nvPr/>
        </p:nvSpPr>
        <p:spPr>
          <a:xfrm>
            <a:off x="7677150" y="1743075"/>
            <a:ext cx="36001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425" dirty="0"/>
          </a:p>
        </p:txBody>
      </p:sp>
      <p:sp>
        <p:nvSpPr>
          <p:cNvPr id="26" name="Shape 21"/>
          <p:cNvSpPr/>
          <p:nvPr/>
        </p:nvSpPr>
        <p:spPr>
          <a:xfrm>
            <a:off x="8094315" y="1724025"/>
            <a:ext cx="317153" cy="361950"/>
          </a:xfrm>
          <a:prstGeom prst="roundRect">
            <a:avLst>
              <a:gd name="adj" fmla="val 27030"/>
            </a:avLst>
          </a:prstGeom>
          <a:solidFill>
            <a:srgbClr val="E7157B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48042" y="1800225"/>
            <a:ext cx="209550" cy="20955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506718" y="1600200"/>
            <a:ext cx="2142232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Incremental workflow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7715250" y="2286000"/>
            <a:ext cx="29432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stage transition written to the run ledger with shared correlation ID.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7715250" y="3609975"/>
            <a:ext cx="2857500" cy="9525"/>
          </a:xfrm>
          <a:prstGeom prst="rect">
            <a:avLst/>
          </a:prstGeom>
          <a:solidFill>
            <a:srgbClr val="B9C2CC"/>
          </a:solidFill>
          <a:ln/>
        </p:spPr>
      </p:sp>
      <p:sp>
        <p:nvSpPr>
          <p:cNvPr id="31" name="Text 25"/>
          <p:cNvSpPr/>
          <p:nvPr/>
        </p:nvSpPr>
        <p:spPr>
          <a:xfrm>
            <a:off x="7715250" y="3695700"/>
            <a:ext cx="294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851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QUEUED → … → IN_REVIEW · redrivable</a:t>
            </a:r>
            <a:endParaRPr lang="en-US" sz="1275" dirty="0"/>
          </a:p>
        </p:txBody>
      </p:sp>
      <p:sp>
        <p:nvSpPr>
          <p:cNvPr id="32" name="Shape 26"/>
          <p:cNvSpPr/>
          <p:nvPr/>
        </p:nvSpPr>
        <p:spPr>
          <a:xfrm>
            <a:off x="11049000" y="1428750"/>
            <a:ext cx="32385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32F3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11239500" y="1619250"/>
            <a:ext cx="323850" cy="32385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34" name="Text 28"/>
          <p:cNvSpPr/>
          <p:nvPr/>
        </p:nvSpPr>
        <p:spPr>
          <a:xfrm>
            <a:off x="11201400" y="161925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425" dirty="0"/>
          </a:p>
        </p:txBody>
      </p:sp>
      <p:sp>
        <p:nvSpPr>
          <p:cNvPr id="35" name="Shape 29"/>
          <p:cNvSpPr/>
          <p:nvPr/>
        </p:nvSpPr>
        <p:spPr>
          <a:xfrm>
            <a:off x="11658600" y="160020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ED7100"/>
          </a:solidFill>
          <a:ln/>
        </p:spPr>
      </p:sp>
      <p:sp>
        <p:nvSpPr>
          <p:cNvPr id="36" name="Text 30"/>
          <p:cNvSpPr/>
          <p:nvPr/>
        </p:nvSpPr>
        <p:spPr>
          <a:xfrm>
            <a:off x="11620500" y="160020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&lt;/&gt;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12115800" y="1628775"/>
            <a:ext cx="16886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Static analysis</a:t>
            </a:r>
            <a:endParaRPr lang="en-US" sz="1800" dirty="0"/>
          </a:p>
        </p:txBody>
      </p:sp>
      <p:sp>
        <p:nvSpPr>
          <p:cNvPr id="38" name="Text 32"/>
          <p:cNvSpPr/>
          <p:nvPr/>
        </p:nvSpPr>
        <p:spPr>
          <a:xfrm>
            <a:off x="11239500" y="2038350"/>
            <a:ext cx="29432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Walk Python AST + embedded SQL in changed scope — file, line, AST path, transform, mechanism.</a:t>
            </a:r>
            <a:endParaRPr lang="en-US" sz="1500" dirty="0"/>
          </a:p>
        </p:txBody>
      </p:sp>
      <p:sp>
        <p:nvSpPr>
          <p:cNvPr id="39" name="Shape 33"/>
          <p:cNvSpPr/>
          <p:nvPr/>
        </p:nvSpPr>
        <p:spPr>
          <a:xfrm>
            <a:off x="11239500" y="3609975"/>
            <a:ext cx="2857500" cy="9525"/>
          </a:xfrm>
          <a:prstGeom prst="rect">
            <a:avLst/>
          </a:prstGeom>
          <a:solidFill>
            <a:srgbClr val="B9C2CC"/>
          </a:solidFill>
          <a:ln/>
        </p:spPr>
      </p:sp>
      <p:sp>
        <p:nvSpPr>
          <p:cNvPr id="40" name="Text 34"/>
          <p:cNvSpPr/>
          <p:nvPr/>
        </p:nvSpPr>
        <p:spPr>
          <a:xfrm>
            <a:off x="11239500" y="3695700"/>
            <a:ext cx="294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08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dynamic names → explicit residue</a:t>
            </a:r>
            <a:endParaRPr lang="en-US" sz="1275" dirty="0"/>
          </a:p>
        </p:txBody>
      </p:sp>
      <p:sp>
        <p:nvSpPr>
          <p:cNvPr id="41" name="Shape 35"/>
          <p:cNvSpPr/>
          <p:nvPr/>
        </p:nvSpPr>
        <p:spPr>
          <a:xfrm>
            <a:off x="14573250" y="1428750"/>
            <a:ext cx="32385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32F3E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4763750" y="1619250"/>
            <a:ext cx="323850" cy="32385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43" name="Text 37"/>
          <p:cNvSpPr/>
          <p:nvPr/>
        </p:nvSpPr>
        <p:spPr>
          <a:xfrm>
            <a:off x="14725650" y="161925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425" dirty="0"/>
          </a:p>
        </p:txBody>
      </p:sp>
      <p:sp>
        <p:nvSpPr>
          <p:cNvPr id="44" name="Shape 38"/>
          <p:cNvSpPr/>
          <p:nvPr/>
        </p:nvSpPr>
        <p:spPr>
          <a:xfrm>
            <a:off x="15182850" y="160020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01A88D"/>
          </a:solidFill>
          <a:ln/>
        </p:spPr>
      </p:sp>
      <p:sp>
        <p:nvSpPr>
          <p:cNvPr id="45" name="Text 39"/>
          <p:cNvSpPr/>
          <p:nvPr/>
        </p:nvSpPr>
        <p:spPr>
          <a:xfrm>
            <a:off x="15144750" y="160020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#</a:t>
            </a:r>
            <a:endParaRPr lang="en-US" sz="1425" dirty="0"/>
          </a:p>
        </p:txBody>
      </p:sp>
      <p:sp>
        <p:nvSpPr>
          <p:cNvPr id="46" name="Text 40"/>
          <p:cNvSpPr/>
          <p:nvPr/>
        </p:nvSpPr>
        <p:spPr>
          <a:xfrm>
            <a:off x="15640050" y="1628775"/>
            <a:ext cx="17595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URN resolution</a:t>
            </a:r>
            <a:endParaRPr lang="en-US" sz="1800" dirty="0"/>
          </a:p>
        </p:txBody>
      </p:sp>
      <p:sp>
        <p:nvSpPr>
          <p:cNvPr id="47" name="Text 41"/>
          <p:cNvSpPr/>
          <p:nvPr/>
        </p:nvSpPr>
        <p:spPr>
          <a:xfrm>
            <a:off x="14763750" y="2038350"/>
            <a:ext cx="2943225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Normalize raw names against the run-pinned catalog snapshot — single match emits a catalog-backed URN.</a:t>
            </a:r>
            <a:endParaRPr lang="en-US" sz="1500" dirty="0"/>
          </a:p>
        </p:txBody>
      </p:sp>
      <p:sp>
        <p:nvSpPr>
          <p:cNvPr id="48" name="Shape 42"/>
          <p:cNvSpPr/>
          <p:nvPr/>
        </p:nvSpPr>
        <p:spPr>
          <a:xfrm>
            <a:off x="14763750" y="3819525"/>
            <a:ext cx="2857500" cy="9525"/>
          </a:xfrm>
          <a:prstGeom prst="rect">
            <a:avLst/>
          </a:prstGeom>
          <a:solidFill>
            <a:srgbClr val="B9C2CC"/>
          </a:solidFill>
          <a:ln/>
        </p:spPr>
      </p:sp>
      <p:sp>
        <p:nvSpPr>
          <p:cNvPr id="49" name="Text 43"/>
          <p:cNvSpPr/>
          <p:nvPr/>
        </p:nvSpPr>
        <p:spPr>
          <a:xfrm>
            <a:off x="14763750" y="3905250"/>
            <a:ext cx="29432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08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 or &gt;1 matches → quarantine</a:t>
            </a:r>
            <a:endParaRPr lang="en-US" sz="1275" dirty="0"/>
          </a:p>
        </p:txBody>
      </p:sp>
      <p:sp>
        <p:nvSpPr>
          <p:cNvPr id="50" name="Shape 44"/>
          <p:cNvSpPr/>
          <p:nvPr/>
        </p:nvSpPr>
        <p:spPr>
          <a:xfrm>
            <a:off x="14573250" y="4762500"/>
            <a:ext cx="32385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32F3E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14763750" y="5076825"/>
            <a:ext cx="300633" cy="32385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52" name="Text 46"/>
          <p:cNvSpPr/>
          <p:nvPr/>
        </p:nvSpPr>
        <p:spPr>
          <a:xfrm>
            <a:off x="14725650" y="5076825"/>
            <a:ext cx="37683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425" dirty="0"/>
          </a:p>
        </p:txBody>
      </p:sp>
      <p:sp>
        <p:nvSpPr>
          <p:cNvPr id="53" name="Shape 47"/>
          <p:cNvSpPr/>
          <p:nvPr/>
        </p:nvSpPr>
        <p:spPr>
          <a:xfrm>
            <a:off x="15159633" y="5057775"/>
            <a:ext cx="336054" cy="361950"/>
          </a:xfrm>
          <a:prstGeom prst="roundRect">
            <a:avLst>
              <a:gd name="adj" fmla="val 25509"/>
            </a:avLst>
          </a:prstGeom>
          <a:solidFill>
            <a:srgbClr val="7AA116"/>
          </a:solidFill>
          <a:ln/>
        </p:spPr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222885" y="5133975"/>
            <a:ext cx="209550" cy="209550"/>
          </a:xfrm>
          <a:prstGeom prst="rect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15590937" y="4933950"/>
            <a:ext cx="210651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Immutable evidence</a:t>
            </a:r>
            <a:endParaRPr lang="en-US" sz="1800" dirty="0"/>
          </a:p>
        </p:txBody>
      </p:sp>
      <p:sp>
        <p:nvSpPr>
          <p:cNvPr id="56" name="Text 49"/>
          <p:cNvSpPr/>
          <p:nvPr/>
        </p:nvSpPr>
        <p:spPr>
          <a:xfrm>
            <a:off x="14763750" y="5619750"/>
            <a:ext cx="29432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Deterministic serialization · SHA-256 checksum · write-once object store.</a:t>
            </a:r>
            <a:endParaRPr lang="en-US" sz="1500" dirty="0"/>
          </a:p>
        </p:txBody>
      </p:sp>
      <p:sp>
        <p:nvSpPr>
          <p:cNvPr id="57" name="Shape 50"/>
          <p:cNvSpPr/>
          <p:nvPr/>
        </p:nvSpPr>
        <p:spPr>
          <a:xfrm>
            <a:off x="14763750" y="6943725"/>
            <a:ext cx="2857500" cy="9525"/>
          </a:xfrm>
          <a:prstGeom prst="rect">
            <a:avLst/>
          </a:prstGeom>
          <a:solidFill>
            <a:srgbClr val="B9C2CC"/>
          </a:solidFill>
          <a:ln/>
        </p:spPr>
      </p:sp>
      <p:sp>
        <p:nvSpPr>
          <p:cNvPr id="58" name="Text 51"/>
          <p:cNvSpPr/>
          <p:nvPr/>
        </p:nvSpPr>
        <p:spPr>
          <a:xfrm>
            <a:off x="14763750" y="7029450"/>
            <a:ext cx="294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851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re-write accepted only if checksum identical</a:t>
            </a:r>
            <a:endParaRPr lang="en-US" sz="1275" dirty="0"/>
          </a:p>
        </p:txBody>
      </p:sp>
      <p:sp>
        <p:nvSpPr>
          <p:cNvPr id="59" name="Shape 52"/>
          <p:cNvSpPr/>
          <p:nvPr/>
        </p:nvSpPr>
        <p:spPr>
          <a:xfrm>
            <a:off x="11049000" y="4762500"/>
            <a:ext cx="32385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32F3E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11239500" y="4953000"/>
            <a:ext cx="323850" cy="32385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61" name="Text 54"/>
          <p:cNvSpPr/>
          <p:nvPr/>
        </p:nvSpPr>
        <p:spPr>
          <a:xfrm>
            <a:off x="11201400" y="49530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1425" dirty="0"/>
          </a:p>
        </p:txBody>
      </p:sp>
      <p:sp>
        <p:nvSpPr>
          <p:cNvPr id="62" name="Shape 55"/>
          <p:cNvSpPr/>
          <p:nvPr/>
        </p:nvSpPr>
        <p:spPr>
          <a:xfrm>
            <a:off x="11658600" y="493395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8C4FFF"/>
          </a:solidFill>
          <a:ln/>
        </p:spPr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34800" y="5010150"/>
            <a:ext cx="209550" cy="209550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12115800" y="4962525"/>
            <a:ext cx="1603712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Consolidation</a:t>
            </a:r>
            <a:endParaRPr lang="en-US" sz="1800" dirty="0"/>
          </a:p>
        </p:txBody>
      </p:sp>
      <p:sp>
        <p:nvSpPr>
          <p:cNvPr id="65" name="Text 57"/>
          <p:cNvSpPr/>
          <p:nvPr/>
        </p:nvSpPr>
        <p:spPr>
          <a:xfrm>
            <a:off x="11239500" y="5372100"/>
            <a:ext cx="2943225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Idempotent merge by edge key · ordinal band from distinct mechanisms · conflicts retained, never averaged.</a:t>
            </a:r>
            <a:endParaRPr lang="en-US" sz="1500" dirty="0"/>
          </a:p>
        </p:txBody>
      </p:sp>
      <p:sp>
        <p:nvSpPr>
          <p:cNvPr id="66" name="Shape 58"/>
          <p:cNvSpPr/>
          <p:nvPr/>
        </p:nvSpPr>
        <p:spPr>
          <a:xfrm>
            <a:off x="11239500" y="6943725"/>
            <a:ext cx="2857500" cy="9525"/>
          </a:xfrm>
          <a:prstGeom prst="rect">
            <a:avLst/>
          </a:prstGeom>
          <a:solidFill>
            <a:srgbClr val="B9C2CC"/>
          </a:solidFill>
          <a:ln/>
        </p:spPr>
      </p:sp>
      <p:sp>
        <p:nvSpPr>
          <p:cNvPr id="67" name="Text 59"/>
          <p:cNvSpPr/>
          <p:nvPr/>
        </p:nvSpPr>
        <p:spPr>
          <a:xfrm>
            <a:off x="11239500" y="7029450"/>
            <a:ext cx="294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08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corroboration is separate · never raises band</a:t>
            </a:r>
            <a:endParaRPr lang="en-US" sz="1275" dirty="0"/>
          </a:p>
        </p:txBody>
      </p:sp>
      <p:sp>
        <p:nvSpPr>
          <p:cNvPr id="68" name="Shape 60"/>
          <p:cNvSpPr/>
          <p:nvPr/>
        </p:nvSpPr>
        <p:spPr>
          <a:xfrm>
            <a:off x="7524750" y="4762500"/>
            <a:ext cx="32385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BD0816"/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7715250" y="4953000"/>
            <a:ext cx="323850" cy="32385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70" name="Text 62"/>
          <p:cNvSpPr/>
          <p:nvPr/>
        </p:nvSpPr>
        <p:spPr>
          <a:xfrm>
            <a:off x="7677150" y="4953000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425" dirty="0"/>
          </a:p>
        </p:txBody>
      </p:sp>
      <p:sp>
        <p:nvSpPr>
          <p:cNvPr id="71" name="Shape 63"/>
          <p:cNvSpPr/>
          <p:nvPr/>
        </p:nvSpPr>
        <p:spPr>
          <a:xfrm>
            <a:off x="8134350" y="4933950"/>
            <a:ext cx="361950" cy="361950"/>
          </a:xfrm>
          <a:prstGeom prst="roundRect">
            <a:avLst>
              <a:gd name="adj" fmla="val 23684"/>
            </a:avLst>
          </a:prstGeom>
          <a:solidFill>
            <a:srgbClr val="DD344C"/>
          </a:solidFill>
          <a:ln/>
        </p:spPr>
      </p:sp>
      <p:pic>
        <p:nvPicPr>
          <p:cNvPr id="7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210550" y="5010150"/>
            <a:ext cx="209550" cy="209550"/>
          </a:xfrm>
          <a:prstGeom prst="rect">
            <a:avLst/>
          </a:prstGeom>
        </p:spPr>
      </p:pic>
      <p:sp>
        <p:nvSpPr>
          <p:cNvPr id="73" name="Text 64"/>
          <p:cNvSpPr/>
          <p:nvPr/>
        </p:nvSpPr>
        <p:spPr>
          <a:xfrm>
            <a:off x="8591550" y="4962525"/>
            <a:ext cx="16814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review</a:t>
            </a:r>
            <a:endParaRPr lang="en-US" sz="1800" dirty="0"/>
          </a:p>
        </p:txBody>
      </p:sp>
      <p:sp>
        <p:nvSpPr>
          <p:cNvPr id="74" name="Text 65"/>
          <p:cNvSpPr/>
          <p:nvPr/>
        </p:nvSpPr>
        <p:spPr>
          <a:xfrm>
            <a:off x="7715250" y="5372100"/>
            <a:ext cx="29432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Proposal diff vs active graph version — approve, reject, or create a corrected successor.</a:t>
            </a:r>
            <a:endParaRPr lang="en-US" sz="1500" dirty="0"/>
          </a:p>
        </p:txBody>
      </p:sp>
      <p:sp>
        <p:nvSpPr>
          <p:cNvPr id="75" name="Shape 66"/>
          <p:cNvSpPr/>
          <p:nvPr/>
        </p:nvSpPr>
        <p:spPr>
          <a:xfrm>
            <a:off x="7715250" y="6943725"/>
            <a:ext cx="2857500" cy="9525"/>
          </a:xfrm>
          <a:prstGeom prst="rect">
            <a:avLst/>
          </a:prstGeom>
          <a:solidFill>
            <a:srgbClr val="B9C2CC"/>
          </a:solidFill>
          <a:ln/>
        </p:spPr>
      </p:sp>
      <p:sp>
        <p:nvSpPr>
          <p:cNvPr id="76" name="Text 67"/>
          <p:cNvSpPr/>
          <p:nvPr/>
        </p:nvSpPr>
        <p:spPr>
          <a:xfrm>
            <a:off x="7715250" y="7029450"/>
            <a:ext cx="294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BD08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server-enforced transitions · audited</a:t>
            </a:r>
            <a:endParaRPr lang="en-US" sz="1275" dirty="0"/>
          </a:p>
        </p:txBody>
      </p:sp>
      <p:sp>
        <p:nvSpPr>
          <p:cNvPr id="77" name="Shape 68"/>
          <p:cNvSpPr/>
          <p:nvPr/>
        </p:nvSpPr>
        <p:spPr>
          <a:xfrm>
            <a:off x="4000500" y="4762500"/>
            <a:ext cx="32385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32F3E"/>
            </a:solidFill>
            <a:prstDash val="solid"/>
          </a:ln>
        </p:spPr>
      </p:sp>
      <p:sp>
        <p:nvSpPr>
          <p:cNvPr id="78" name="Shape 69"/>
          <p:cNvSpPr/>
          <p:nvPr/>
        </p:nvSpPr>
        <p:spPr>
          <a:xfrm>
            <a:off x="4191000" y="5076825"/>
            <a:ext cx="319683" cy="32385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79" name="Text 70"/>
          <p:cNvSpPr/>
          <p:nvPr/>
        </p:nvSpPr>
        <p:spPr>
          <a:xfrm>
            <a:off x="4152900" y="5076825"/>
            <a:ext cx="395883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1425" dirty="0"/>
          </a:p>
        </p:txBody>
      </p:sp>
      <p:sp>
        <p:nvSpPr>
          <p:cNvPr id="80" name="Shape 71"/>
          <p:cNvSpPr/>
          <p:nvPr/>
        </p:nvSpPr>
        <p:spPr>
          <a:xfrm>
            <a:off x="4605933" y="5057775"/>
            <a:ext cx="357336" cy="361950"/>
          </a:xfrm>
          <a:prstGeom prst="roundRect">
            <a:avLst>
              <a:gd name="adj" fmla="val 23990"/>
            </a:avLst>
          </a:prstGeom>
          <a:solidFill>
            <a:srgbClr val="527FFF"/>
          </a:solidFill>
          <a:ln/>
        </p:spPr>
      </p:sp>
      <p:pic>
        <p:nvPicPr>
          <p:cNvPr id="8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79752" y="5133975"/>
            <a:ext cx="209550" cy="209550"/>
          </a:xfrm>
          <a:prstGeom prst="rect">
            <a:avLst/>
          </a:prstGeom>
        </p:spPr>
      </p:pic>
      <p:sp>
        <p:nvSpPr>
          <p:cNvPr id="82" name="Text 72"/>
          <p:cNvSpPr/>
          <p:nvPr/>
        </p:nvSpPr>
        <p:spPr>
          <a:xfrm>
            <a:off x="5058519" y="4933950"/>
            <a:ext cx="206618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Fenced publication</a:t>
            </a:r>
            <a:endParaRPr lang="en-US" sz="1800" dirty="0"/>
          </a:p>
        </p:txBody>
      </p:sp>
      <p:sp>
        <p:nvSpPr>
          <p:cNvPr id="83" name="Text 73"/>
          <p:cNvSpPr/>
          <p:nvPr/>
        </p:nvSpPr>
        <p:spPr>
          <a:xfrm>
            <a:off x="4191000" y="5619750"/>
            <a:ext cx="2943225" cy="1143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Checksummed manifest · monotonic fencing token · stage → verify → atomic active-pointer swap.</a:t>
            </a:r>
            <a:endParaRPr lang="en-US" sz="1500" dirty="0"/>
          </a:p>
        </p:txBody>
      </p:sp>
      <p:sp>
        <p:nvSpPr>
          <p:cNvPr id="84" name="Shape 74"/>
          <p:cNvSpPr/>
          <p:nvPr/>
        </p:nvSpPr>
        <p:spPr>
          <a:xfrm>
            <a:off x="4191000" y="6943725"/>
            <a:ext cx="2857500" cy="9525"/>
          </a:xfrm>
          <a:prstGeom prst="rect">
            <a:avLst/>
          </a:prstGeom>
          <a:solidFill>
            <a:srgbClr val="B9C2CC"/>
          </a:solidFill>
          <a:ln/>
        </p:spPr>
      </p:sp>
      <p:sp>
        <p:nvSpPr>
          <p:cNvPr id="85" name="Text 75"/>
          <p:cNvSpPr/>
          <p:nvPr/>
        </p:nvSpPr>
        <p:spPr>
          <a:xfrm>
            <a:off x="4191000" y="7029450"/>
            <a:ext cx="294322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851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stale writer can never advance the pointer</a:t>
            </a:r>
            <a:endParaRPr lang="en-US" sz="1275" dirty="0"/>
          </a:p>
        </p:txBody>
      </p:sp>
      <p:sp>
        <p:nvSpPr>
          <p:cNvPr id="86" name="Shape 76"/>
          <p:cNvSpPr/>
          <p:nvPr/>
        </p:nvSpPr>
        <p:spPr>
          <a:xfrm>
            <a:off x="476250" y="4762500"/>
            <a:ext cx="323850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32F3E"/>
            </a:solidFill>
            <a:prstDash val="solid"/>
          </a:ln>
        </p:spPr>
      </p:sp>
      <p:sp>
        <p:nvSpPr>
          <p:cNvPr id="87" name="Shape 77"/>
          <p:cNvSpPr/>
          <p:nvPr/>
        </p:nvSpPr>
        <p:spPr>
          <a:xfrm>
            <a:off x="666750" y="5076825"/>
            <a:ext cx="271909" cy="32385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88" name="Text 78"/>
          <p:cNvSpPr/>
          <p:nvPr/>
        </p:nvSpPr>
        <p:spPr>
          <a:xfrm>
            <a:off x="628650" y="5076825"/>
            <a:ext cx="34810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25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425" dirty="0"/>
          </a:p>
        </p:txBody>
      </p:sp>
      <p:sp>
        <p:nvSpPr>
          <p:cNvPr id="89" name="Shape 79"/>
          <p:cNvSpPr/>
          <p:nvPr/>
        </p:nvSpPr>
        <p:spPr>
          <a:xfrm>
            <a:off x="1033909" y="5057775"/>
            <a:ext cx="303758" cy="361950"/>
          </a:xfrm>
          <a:prstGeom prst="roundRect">
            <a:avLst>
              <a:gd name="adj" fmla="val 28221"/>
            </a:avLst>
          </a:prstGeom>
          <a:solidFill>
            <a:srgbClr val="01A88D"/>
          </a:solidFill>
          <a:ln/>
        </p:spPr>
      </p:sp>
      <p:pic>
        <p:nvPicPr>
          <p:cNvPr id="90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0939" y="5133975"/>
            <a:ext cx="209550" cy="209550"/>
          </a:xfrm>
          <a:prstGeom prst="rect">
            <a:avLst/>
          </a:prstGeom>
        </p:spPr>
      </p:pic>
      <p:sp>
        <p:nvSpPr>
          <p:cNvPr id="91" name="Text 80"/>
          <p:cNvSpPr/>
          <p:nvPr/>
        </p:nvSpPr>
        <p:spPr>
          <a:xfrm>
            <a:off x="1432917" y="4933950"/>
            <a:ext cx="216753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Lineage &amp; impact query</a:t>
            </a:r>
            <a:endParaRPr lang="en-US" sz="1800" dirty="0"/>
          </a:p>
        </p:txBody>
      </p:sp>
      <p:sp>
        <p:nvSpPr>
          <p:cNvPr id="92" name="Text 81"/>
          <p:cNvSpPr/>
          <p:nvPr/>
        </p:nvSpPr>
        <p:spPr>
          <a:xfrm>
            <a:off x="666750" y="5619750"/>
            <a:ext cx="294322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500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Resolve through the active pointer · downstream traversal depth ≤ 5.</a:t>
            </a:r>
            <a:endParaRPr lang="en-US" sz="1500" dirty="0"/>
          </a:p>
        </p:txBody>
      </p:sp>
      <p:sp>
        <p:nvSpPr>
          <p:cNvPr id="93" name="Shape 82"/>
          <p:cNvSpPr/>
          <p:nvPr/>
        </p:nvSpPr>
        <p:spPr>
          <a:xfrm>
            <a:off x="666750" y="7153275"/>
            <a:ext cx="2857500" cy="9525"/>
          </a:xfrm>
          <a:prstGeom prst="rect">
            <a:avLst/>
          </a:prstGeom>
          <a:solidFill>
            <a:srgbClr val="B9C2CC"/>
          </a:solidFill>
          <a:ln/>
        </p:spPr>
      </p:sp>
      <p:sp>
        <p:nvSpPr>
          <p:cNvPr id="94" name="Text 83"/>
          <p:cNvSpPr/>
          <p:nvPr/>
        </p:nvSpPr>
        <p:spPr>
          <a:xfrm>
            <a:off x="666750" y="7239000"/>
            <a:ext cx="29432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C851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verdicts: BLOCK / WARN / INFO</a:t>
            </a:r>
            <a:endParaRPr lang="en-US" sz="1275" dirty="0"/>
          </a:p>
        </p:txBody>
      </p:sp>
      <p:sp>
        <p:nvSpPr>
          <p:cNvPr id="95" name="Shape 84"/>
          <p:cNvSpPr/>
          <p:nvPr/>
        </p:nvSpPr>
        <p:spPr>
          <a:xfrm>
            <a:off x="476250" y="8001000"/>
            <a:ext cx="17335500" cy="1809750"/>
          </a:xfrm>
          <a:prstGeom prst="roundRect">
            <a:avLst>
              <a:gd name="adj" fmla="val 6316"/>
            </a:avLst>
          </a:prstGeom>
          <a:solidFill>
            <a:srgbClr val="FDF0DC"/>
          </a:solidFill>
          <a:ln w="19050">
            <a:solidFill>
              <a:srgbClr val="C8511B"/>
            </a:solidFill>
            <a:prstDash val="solid"/>
          </a:ln>
        </p:spPr>
      </p:sp>
      <p:sp>
        <p:nvSpPr>
          <p:cNvPr id="96" name="Text 85"/>
          <p:cNvSpPr/>
          <p:nvPr/>
        </p:nvSpPr>
        <p:spPr>
          <a:xfrm>
            <a:off x="685800" y="8172450"/>
            <a:ext cx="1860804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Confidence bands </a:t>
            </a:r>
            <a:pPr algn="l" indent="0" marL="0">
              <a:buNone/>
            </a:pPr>
            <a:r>
              <a:rPr lang="en-US" sz="1275" dirty="0">
                <a:solidFill>
                  <a:srgbClr val="5F6B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— ordinal, derived from distinct mechanisms (L07)</a:t>
            </a:r>
            <a:endParaRPr lang="en-US" sz="1650" dirty="0"/>
          </a:p>
        </p:txBody>
      </p:sp>
      <p:sp>
        <p:nvSpPr>
          <p:cNvPr id="97" name="Shape 86"/>
          <p:cNvSpPr/>
          <p:nvPr/>
        </p:nvSpPr>
        <p:spPr>
          <a:xfrm>
            <a:off x="685800" y="8562975"/>
            <a:ext cx="3291780" cy="704850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9050">
            <a:solidFill>
              <a:srgbClr val="B9C2CC"/>
            </a:solidFill>
            <a:prstDash val="solid"/>
          </a:ln>
        </p:spPr>
      </p:sp>
      <p:sp>
        <p:nvSpPr>
          <p:cNvPr id="98" name="Text 87"/>
          <p:cNvSpPr/>
          <p:nvPr/>
        </p:nvSpPr>
        <p:spPr>
          <a:xfrm>
            <a:off x="819150" y="8677275"/>
            <a:ext cx="33275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LOWEST</a:t>
            </a:r>
            <a:endParaRPr lang="en-US" sz="1350" dirty="0"/>
          </a:p>
        </p:txBody>
      </p:sp>
      <p:sp>
        <p:nvSpPr>
          <p:cNvPr id="99" name="Text 88"/>
          <p:cNvSpPr/>
          <p:nvPr/>
        </p:nvSpPr>
        <p:spPr>
          <a:xfrm>
            <a:off x="819150" y="8934450"/>
            <a:ext cx="33275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 alone</a:t>
            </a:r>
            <a:endParaRPr lang="en-US" sz="1350" dirty="0"/>
          </a:p>
        </p:txBody>
      </p:sp>
      <p:sp>
        <p:nvSpPr>
          <p:cNvPr id="100" name="Shape 89"/>
          <p:cNvSpPr/>
          <p:nvPr/>
        </p:nvSpPr>
        <p:spPr>
          <a:xfrm>
            <a:off x="4091880" y="8562975"/>
            <a:ext cx="3291780" cy="704850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9050">
            <a:solidFill>
              <a:srgbClr val="B9C2CC"/>
            </a:solidFill>
            <a:prstDash val="solid"/>
          </a:ln>
        </p:spPr>
      </p:sp>
      <p:sp>
        <p:nvSpPr>
          <p:cNvPr id="101" name="Text 90"/>
          <p:cNvSpPr/>
          <p:nvPr/>
        </p:nvSpPr>
        <p:spPr>
          <a:xfrm>
            <a:off x="4225230" y="8677275"/>
            <a:ext cx="33275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SINGLE</a:t>
            </a:r>
            <a:endParaRPr lang="en-US" sz="1350" dirty="0"/>
          </a:p>
        </p:txBody>
      </p:sp>
      <p:sp>
        <p:nvSpPr>
          <p:cNvPr id="102" name="Text 91"/>
          <p:cNvSpPr/>
          <p:nvPr/>
        </p:nvSpPr>
        <p:spPr>
          <a:xfrm>
            <a:off x="4225230" y="8934450"/>
            <a:ext cx="33275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non-LLM mechanism</a:t>
            </a:r>
            <a:endParaRPr lang="en-US" sz="1350" dirty="0"/>
          </a:p>
        </p:txBody>
      </p:sp>
      <p:sp>
        <p:nvSpPr>
          <p:cNvPr id="103" name="Shape 92"/>
          <p:cNvSpPr/>
          <p:nvPr/>
        </p:nvSpPr>
        <p:spPr>
          <a:xfrm>
            <a:off x="7497961" y="8562975"/>
            <a:ext cx="3291780" cy="704850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9050">
            <a:solidFill>
              <a:srgbClr val="9BA7B6"/>
            </a:solidFill>
            <a:prstDash val="solid"/>
          </a:ln>
        </p:spPr>
      </p:sp>
      <p:sp>
        <p:nvSpPr>
          <p:cNvPr id="104" name="Text 93"/>
          <p:cNvSpPr/>
          <p:nvPr/>
        </p:nvSpPr>
        <p:spPr>
          <a:xfrm>
            <a:off x="7631311" y="8677275"/>
            <a:ext cx="33275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MEDIUM</a:t>
            </a:r>
            <a:endParaRPr lang="en-US" sz="1350" dirty="0"/>
          </a:p>
        </p:txBody>
      </p:sp>
      <p:sp>
        <p:nvSpPr>
          <p:cNvPr id="105" name="Text 94"/>
          <p:cNvSpPr/>
          <p:nvPr/>
        </p:nvSpPr>
        <p:spPr>
          <a:xfrm>
            <a:off x="7631311" y="8934450"/>
            <a:ext cx="33275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SCA+LLM or runtime+LLM</a:t>
            </a:r>
            <a:endParaRPr lang="en-US" sz="1350" dirty="0"/>
          </a:p>
        </p:txBody>
      </p:sp>
      <p:sp>
        <p:nvSpPr>
          <p:cNvPr id="106" name="Shape 95"/>
          <p:cNvSpPr/>
          <p:nvPr/>
        </p:nvSpPr>
        <p:spPr>
          <a:xfrm>
            <a:off x="10904041" y="8562975"/>
            <a:ext cx="3291780" cy="704850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9050">
            <a:solidFill>
              <a:srgbClr val="C8511B"/>
            </a:solidFill>
            <a:prstDash val="solid"/>
          </a:ln>
        </p:spPr>
      </p:sp>
      <p:sp>
        <p:nvSpPr>
          <p:cNvPr id="107" name="Text 96"/>
          <p:cNvSpPr/>
          <p:nvPr/>
        </p:nvSpPr>
        <p:spPr>
          <a:xfrm>
            <a:off x="11037391" y="8677275"/>
            <a:ext cx="33275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851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</a:t>
            </a:r>
            <a:endParaRPr lang="en-US" sz="1350" dirty="0"/>
          </a:p>
        </p:txBody>
      </p:sp>
      <p:sp>
        <p:nvSpPr>
          <p:cNvPr id="108" name="Text 97"/>
          <p:cNvSpPr/>
          <p:nvPr/>
        </p:nvSpPr>
        <p:spPr>
          <a:xfrm>
            <a:off x="11037391" y="8934450"/>
            <a:ext cx="33275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232F3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 + runtime</a:t>
            </a:r>
            <a:endParaRPr lang="en-US" sz="1350" dirty="0"/>
          </a:p>
        </p:txBody>
      </p:sp>
      <p:sp>
        <p:nvSpPr>
          <p:cNvPr id="109" name="Shape 98"/>
          <p:cNvSpPr/>
          <p:nvPr/>
        </p:nvSpPr>
        <p:spPr>
          <a:xfrm>
            <a:off x="14310122" y="8562975"/>
            <a:ext cx="3291780" cy="704850"/>
          </a:xfrm>
          <a:prstGeom prst="roundRect">
            <a:avLst>
              <a:gd name="adj" fmla="val 12162"/>
            </a:avLst>
          </a:prstGeom>
          <a:solidFill>
            <a:srgbClr val="C8511B"/>
          </a:solidFill>
          <a:ln w="19050">
            <a:solidFill>
              <a:srgbClr val="C8511B"/>
            </a:solidFill>
            <a:prstDash val="solid"/>
          </a:ln>
        </p:spPr>
      </p:sp>
      <p:sp>
        <p:nvSpPr>
          <p:cNvPr id="110" name="Text 99"/>
          <p:cNvSpPr/>
          <p:nvPr/>
        </p:nvSpPr>
        <p:spPr>
          <a:xfrm>
            <a:off x="14443472" y="8677275"/>
            <a:ext cx="33275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HIGHEST</a:t>
            </a:r>
            <a:endParaRPr lang="en-US" sz="1350" dirty="0"/>
          </a:p>
        </p:txBody>
      </p:sp>
      <p:sp>
        <p:nvSpPr>
          <p:cNvPr id="111" name="Text 100"/>
          <p:cNvSpPr/>
          <p:nvPr/>
        </p:nvSpPr>
        <p:spPr>
          <a:xfrm>
            <a:off x="14443472" y="8934450"/>
            <a:ext cx="3327589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SCA + LLM + runtime</a:t>
            </a:r>
            <a:endParaRPr lang="en-US" sz="1350" dirty="0"/>
          </a:p>
        </p:txBody>
      </p:sp>
      <p:sp>
        <p:nvSpPr>
          <p:cNvPr id="112" name="Text 101"/>
          <p:cNvSpPr/>
          <p:nvPr/>
        </p:nvSpPr>
        <p:spPr>
          <a:xfrm>
            <a:off x="685800" y="9382125"/>
            <a:ext cx="1860804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5F6B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corroboration = NONE | DATASET | ELEMENT — tracked separately, never changes the band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2026-08-11T12:32:33Z</dcterms:created>
  <dcterms:modified xsi:type="dcterms:W3CDTF">2026-08-11T12:32:33Z</dcterms:modified>
</cp:coreProperties>
</file>